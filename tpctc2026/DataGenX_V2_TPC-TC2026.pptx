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15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4" name="Shape 15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WHY THIS SLIDE IS HERE: everything up to now has been described abstractly (graphs, classification, remapping). This is Level 2's actual output for one real table — proof the pipeline produces real, readable SQL, not a black box. Use it to make the previous two slides concrete.</a:t>
            </a:r>
          </a:p>
          <a:p>
            <a:pPr/>
          </a:p>
          <a:p>
            <a:pPr/>
            <a:r>
              <a:t>Walk through each column:</a:t>
            </a:r>
          </a:p>
          <a:p>
            <a:pPr/>
            <a:r>
              <a:t>- o_orderkey: single-column PK -&gt; just the row number. No statistics needed, nothing to remap.</a:t>
            </a:r>
          </a:p>
          <a:p>
            <a:pPr/>
            <a:r>
              <a:t>- o_custkey: FK to customer. Coverage is &gt;80% of the customer PK range, so it's classified 'dense' and gets a uniform rand.range over the referenced key range - cheap and statistically correct, and no source values involved.</a:t>
            </a:r>
          </a:p>
          <a:p>
            <a:pPr/>
            <a:r>
              <a:t>- o_orderdate: instead of reusing the real date range from the source (which would leak source information), we synthesize a base date and shift it by a span drawn from the histogram. Same spread as the source, no real dates copied.</a:t>
            </a:r>
          </a:p>
          <a:p>
            <a:pPr/>
            <a:r>
              <a:t>- o_totalprice: numeric column with an equi-height histogram. The CASE expression cycles through buckets so bucket weights and NDV are reproduced exactly, without copying a single source value.</a:t>
            </a:r>
          </a:p>
          <a:p>
            <a:pPr/>
          </a:p>
          <a:p>
            <a:pPr/>
            <a:r>
              <a:t>Close with: every one of these decisions was made automatically in Level 2 - this is the artifact a human would otherwise have had to hand-write, per column, per table.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868680" y="853879"/>
            <a:ext cx="53949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300">
                <a:solidFill>
                  <a:srgbClr val="6B93D6"/>
                </a:solidFill>
              </a:defRPr>
            </a:lvl1pPr>
          </a:lstStyle>
          <a:p>
            <a:pPr/>
            <a:r>
              <a:t>TPC-TC 2026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868680" y="1873250"/>
            <a:ext cx="10424161" cy="91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56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DataGenX V2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868680" y="2892536"/>
            <a:ext cx="9966961" cy="7071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25000"/>
              </a:lnSpc>
              <a:defRPr sz="2000">
                <a:solidFill>
                  <a:srgbClr val="C7CDD9"/>
                </a:solidFill>
              </a:defRPr>
            </a:pPr>
            <a:r>
              <a:t>Automated, Privacy-Preserving Synthetic Relational Data Generation</a:t>
            </a:r>
          </a:p>
          <a:p>
            <a:pPr>
              <a:lnSpc>
                <a:spcPct val="125000"/>
              </a:lnSpc>
              <a:defRPr sz="2000">
                <a:solidFill>
                  <a:srgbClr val="C7CDD9"/>
                </a:solidFill>
              </a:defRPr>
            </a:pPr>
            <a:r>
              <a:t>from Database Statistics</a:t>
            </a:r>
          </a:p>
        </p:txBody>
      </p:sp>
      <p:sp>
        <p:nvSpPr>
          <p:cNvPr id="23" name="Shape 3"/>
          <p:cNvSpPr/>
          <p:nvPr/>
        </p:nvSpPr>
        <p:spPr>
          <a:xfrm>
            <a:off x="822960" y="4160520"/>
            <a:ext cx="10515601" cy="12803"/>
          </a:xfrm>
          <a:prstGeom prst="roundRect">
            <a:avLst>
              <a:gd name="adj" fmla="val 16667"/>
            </a:avLst>
          </a:prstGeom>
          <a:solidFill>
            <a:srgbClr val="3A3F4B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" name="Text 4"/>
          <p:cNvSpPr txBox="1"/>
          <p:nvPr/>
        </p:nvSpPr>
        <p:spPr>
          <a:xfrm>
            <a:off x="868680" y="4534339"/>
            <a:ext cx="104241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Sree Harsha Ramanavarapu   ·   Ahmad Ghazal   ·   Hanumath Maduri   ·   Qizhi Wang   ·   Ankit Kapoor   ·   Xianfei Deng   ·   Yu Dong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MOTIVATION</a:t>
            </a:r>
          </a:p>
        </p:txBody>
      </p:sp>
      <p:sp>
        <p:nvSpPr>
          <p:cNvPr id="27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Testing needs data that behaves like production</a:t>
            </a:r>
          </a:p>
        </p:txBody>
      </p:sp>
      <p:sp>
        <p:nvSpPr>
          <p:cNvPr id="28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29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0" name="Text 4"/>
          <p:cNvSpPr txBox="1"/>
          <p:nvPr/>
        </p:nvSpPr>
        <p:spPr>
          <a:xfrm>
            <a:off x="594359" y="1373966"/>
            <a:ext cx="10972802" cy="54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500">
                <a:solidFill>
                  <a:srgbClr val="C7CDD9"/>
                </a:solidFill>
              </a:defRPr>
            </a:lvl1pPr>
          </a:lstStyle>
          <a:p>
            <a:pPr/>
            <a:r>
              <a:t>Tuning a query optimizer, reproducing a production incident, or stress-testing a new storage engine all require a database that behaves like the real system.</a:t>
            </a:r>
          </a:p>
        </p:txBody>
      </p:sp>
      <p:sp>
        <p:nvSpPr>
          <p:cNvPr id="31" name="Shape 5"/>
          <p:cNvSpPr/>
          <p:nvPr/>
        </p:nvSpPr>
        <p:spPr>
          <a:xfrm>
            <a:off x="548640" y="2331720"/>
            <a:ext cx="11091672" cy="1170433"/>
          </a:xfrm>
          <a:prstGeom prst="roundRect">
            <a:avLst>
              <a:gd name="adj" fmla="val 7813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Text 6"/>
          <p:cNvSpPr txBox="1"/>
          <p:nvPr/>
        </p:nvSpPr>
        <p:spPr>
          <a:xfrm>
            <a:off x="914400" y="2617216"/>
            <a:ext cx="914400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400">
                <a:solidFill>
                  <a:srgbClr val="3A3F4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3" name="Text 7"/>
          <p:cNvSpPr txBox="1"/>
          <p:nvPr/>
        </p:nvSpPr>
        <p:spPr>
          <a:xfrm>
            <a:off x="2103119" y="2592903"/>
            <a:ext cx="29260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E5C07B"/>
                </a:solidFill>
              </a:defRPr>
            </a:lvl1pPr>
          </a:lstStyle>
          <a:p>
            <a:pPr/>
            <a:r>
              <a:t>Regulated</a:t>
            </a:r>
          </a:p>
        </p:txBody>
      </p:sp>
      <p:sp>
        <p:nvSpPr>
          <p:cNvPr id="34" name="Text 8"/>
          <p:cNvSpPr txBox="1"/>
          <p:nvPr/>
        </p:nvSpPr>
        <p:spPr>
          <a:xfrm>
            <a:off x="5257799" y="2776536"/>
            <a:ext cx="60350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C7CDD9"/>
                </a:solidFill>
              </a:defRPr>
            </a:lvl1pPr>
          </a:lstStyle>
          <a:p>
            <a:pPr/>
            <a:r>
              <a:t>Production rows are governed by privacy regulations.</a:t>
            </a:r>
          </a:p>
        </p:txBody>
      </p:sp>
      <p:sp>
        <p:nvSpPr>
          <p:cNvPr id="35" name="Shape 9"/>
          <p:cNvSpPr/>
          <p:nvPr/>
        </p:nvSpPr>
        <p:spPr>
          <a:xfrm>
            <a:off x="548640" y="3730752"/>
            <a:ext cx="11091672" cy="1170433"/>
          </a:xfrm>
          <a:prstGeom prst="roundRect">
            <a:avLst>
              <a:gd name="adj" fmla="val 7813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" name="Text 10"/>
          <p:cNvSpPr txBox="1"/>
          <p:nvPr/>
        </p:nvSpPr>
        <p:spPr>
          <a:xfrm>
            <a:off x="914400" y="4016248"/>
            <a:ext cx="914400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400">
                <a:solidFill>
                  <a:srgbClr val="3A3F4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7" name="Text 11"/>
          <p:cNvSpPr txBox="1"/>
          <p:nvPr/>
        </p:nvSpPr>
        <p:spPr>
          <a:xfrm>
            <a:off x="2103119" y="3991935"/>
            <a:ext cx="29260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E5C07B"/>
                </a:solidFill>
              </a:defRPr>
            </a:lvl1pPr>
          </a:lstStyle>
          <a:p>
            <a:pPr/>
            <a:r>
              <a:t>Not shareable</a:t>
            </a:r>
          </a:p>
        </p:txBody>
      </p:sp>
      <p:sp>
        <p:nvSpPr>
          <p:cNvPr id="38" name="Text 12"/>
          <p:cNvSpPr txBox="1"/>
          <p:nvPr/>
        </p:nvSpPr>
        <p:spPr>
          <a:xfrm>
            <a:off x="5257799" y="4175568"/>
            <a:ext cx="60350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C7CDD9"/>
                </a:solidFill>
              </a:defRPr>
            </a:lvl1pPr>
          </a:lstStyle>
          <a:p>
            <a:pPr/>
            <a:r>
              <a:t>The data belongs to a customer who cannot share it.</a:t>
            </a:r>
          </a:p>
        </p:txBody>
      </p:sp>
      <p:sp>
        <p:nvSpPr>
          <p:cNvPr id="39" name="Shape 13"/>
          <p:cNvSpPr/>
          <p:nvPr/>
        </p:nvSpPr>
        <p:spPr>
          <a:xfrm>
            <a:off x="548640" y="5129784"/>
            <a:ext cx="11091672" cy="1170433"/>
          </a:xfrm>
          <a:prstGeom prst="roundRect">
            <a:avLst>
              <a:gd name="adj" fmla="val 7813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14"/>
          <p:cNvSpPr txBox="1"/>
          <p:nvPr/>
        </p:nvSpPr>
        <p:spPr>
          <a:xfrm>
            <a:off x="914400" y="5415280"/>
            <a:ext cx="914400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400">
                <a:solidFill>
                  <a:srgbClr val="3A3F4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1" name="Text 15"/>
          <p:cNvSpPr txBox="1"/>
          <p:nvPr/>
        </p:nvSpPr>
        <p:spPr>
          <a:xfrm>
            <a:off x="2103119" y="5390967"/>
            <a:ext cx="29260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600">
                <a:solidFill>
                  <a:srgbClr val="E5C07B"/>
                </a:solidFill>
              </a:defRPr>
            </a:lvl1pPr>
          </a:lstStyle>
          <a:p>
            <a:pPr/>
            <a:r>
              <a:t>Doesn't exist yet</a:t>
            </a:r>
          </a:p>
        </p:txBody>
      </p:sp>
      <p:sp>
        <p:nvSpPr>
          <p:cNvPr id="42" name="Text 16"/>
          <p:cNvSpPr txBox="1"/>
          <p:nvPr/>
        </p:nvSpPr>
        <p:spPr>
          <a:xfrm>
            <a:off x="5257799" y="5574600"/>
            <a:ext cx="603504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5000"/>
              </a:lnSpc>
              <a:defRPr sz="1400">
                <a:solidFill>
                  <a:srgbClr val="C7CDD9"/>
                </a:solidFill>
              </a:defRPr>
            </a:lvl1pPr>
          </a:lstStyle>
          <a:p>
            <a:pPr/>
            <a:r>
              <a:t>The system is new — representative data was never collected.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CORE PROBLEM</a:t>
            </a:r>
          </a:p>
        </p:txBody>
      </p:sp>
      <p:sp>
        <p:nvSpPr>
          <p:cNvPr id="45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Faithful representation needs three properties</a:t>
            </a:r>
          </a:p>
        </p:txBody>
      </p:sp>
      <p:sp>
        <p:nvSpPr>
          <p:cNvPr id="46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47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8" name="Shape 4"/>
          <p:cNvSpPr/>
          <p:nvPr/>
        </p:nvSpPr>
        <p:spPr>
          <a:xfrm>
            <a:off x="548640" y="1554480"/>
            <a:ext cx="3547872" cy="4114801"/>
          </a:xfrm>
          <a:prstGeom prst="roundRect">
            <a:avLst>
              <a:gd name="adj" fmla="val 2577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Shape 5"/>
          <p:cNvSpPr/>
          <p:nvPr/>
        </p:nvSpPr>
        <p:spPr>
          <a:xfrm>
            <a:off x="868680" y="1920239"/>
            <a:ext cx="502920" cy="502921"/>
          </a:xfrm>
          <a:prstGeom prst="roundRect">
            <a:avLst>
              <a:gd name="adj" fmla="val 50000"/>
            </a:avLst>
          </a:prstGeom>
          <a:solidFill>
            <a:srgbClr val="56B6C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6"/>
          <p:cNvSpPr txBox="1"/>
          <p:nvPr/>
        </p:nvSpPr>
        <p:spPr>
          <a:xfrm>
            <a:off x="914400" y="2001608"/>
            <a:ext cx="4114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000">
                <a:solidFill>
                  <a:srgbClr val="1B1E23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1" name="Text 7"/>
          <p:cNvSpPr txBox="1"/>
          <p:nvPr/>
        </p:nvSpPr>
        <p:spPr>
          <a:xfrm>
            <a:off x="914399" y="2701289"/>
            <a:ext cx="281635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Schema Structure</a:t>
            </a:r>
          </a:p>
        </p:txBody>
      </p:sp>
      <p:sp>
        <p:nvSpPr>
          <p:cNvPr id="52" name="Text 8"/>
          <p:cNvSpPr txBox="1"/>
          <p:nvPr/>
        </p:nvSpPr>
        <p:spPr>
          <a:xfrm>
            <a:off x="914399" y="3246120"/>
            <a:ext cx="2816354" cy="764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Table definitions, column types, and lengths — the structural skeleton of the database.</a:t>
            </a:r>
          </a:p>
        </p:txBody>
      </p:sp>
      <p:sp>
        <p:nvSpPr>
          <p:cNvPr id="53" name="Shape 9"/>
          <p:cNvSpPr/>
          <p:nvPr/>
        </p:nvSpPr>
        <p:spPr>
          <a:xfrm>
            <a:off x="4352544" y="1554480"/>
            <a:ext cx="3547872" cy="4114801"/>
          </a:xfrm>
          <a:prstGeom prst="roundRect">
            <a:avLst>
              <a:gd name="adj" fmla="val 2577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Shape 10"/>
          <p:cNvSpPr/>
          <p:nvPr/>
        </p:nvSpPr>
        <p:spPr>
          <a:xfrm>
            <a:off x="4672584" y="1920239"/>
            <a:ext cx="502921" cy="502921"/>
          </a:xfrm>
          <a:prstGeom prst="roundRect">
            <a:avLst>
              <a:gd name="adj" fmla="val 50000"/>
            </a:avLst>
          </a:prstGeom>
          <a:solidFill>
            <a:srgbClr val="C678D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11"/>
          <p:cNvSpPr txBox="1"/>
          <p:nvPr/>
        </p:nvSpPr>
        <p:spPr>
          <a:xfrm>
            <a:off x="4718304" y="2001608"/>
            <a:ext cx="4114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000">
                <a:solidFill>
                  <a:srgbClr val="1B1E23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56" name="Text 12"/>
          <p:cNvSpPr txBox="1"/>
          <p:nvPr/>
        </p:nvSpPr>
        <p:spPr>
          <a:xfrm>
            <a:off x="4718304" y="2701289"/>
            <a:ext cx="281635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Integrity Constraints</a:t>
            </a:r>
          </a:p>
        </p:txBody>
      </p:sp>
      <p:sp>
        <p:nvSpPr>
          <p:cNvPr id="57" name="Text 13"/>
          <p:cNvSpPr txBox="1"/>
          <p:nvPr/>
        </p:nvSpPr>
        <p:spPr>
          <a:xfrm>
            <a:off x="4718304" y="3246120"/>
            <a:ext cx="2816353" cy="1017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PK/FK relationships and parent-child cardinalities. Ignoring them breaks joins and misleads the optimizer's plan choice.</a:t>
            </a:r>
          </a:p>
        </p:txBody>
      </p:sp>
      <p:sp>
        <p:nvSpPr>
          <p:cNvPr id="58" name="Shape 14"/>
          <p:cNvSpPr/>
          <p:nvPr/>
        </p:nvSpPr>
        <p:spPr>
          <a:xfrm>
            <a:off x="8156447" y="1554480"/>
            <a:ext cx="3547873" cy="4114801"/>
          </a:xfrm>
          <a:prstGeom prst="roundRect">
            <a:avLst>
              <a:gd name="adj" fmla="val 2577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Shape 15"/>
          <p:cNvSpPr/>
          <p:nvPr/>
        </p:nvSpPr>
        <p:spPr>
          <a:xfrm>
            <a:off x="8476488" y="1920239"/>
            <a:ext cx="502921" cy="502921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16"/>
          <p:cNvSpPr txBox="1"/>
          <p:nvPr/>
        </p:nvSpPr>
        <p:spPr>
          <a:xfrm>
            <a:off x="8522208" y="2001608"/>
            <a:ext cx="4114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2000">
                <a:solidFill>
                  <a:srgbClr val="1B1E23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1" name="Text 17"/>
          <p:cNvSpPr txBox="1"/>
          <p:nvPr/>
        </p:nvSpPr>
        <p:spPr>
          <a:xfrm>
            <a:off x="8522207" y="2701289"/>
            <a:ext cx="281635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Distribution</a:t>
            </a:r>
          </a:p>
        </p:txBody>
      </p:sp>
      <p:sp>
        <p:nvSpPr>
          <p:cNvPr id="62" name="Text 18"/>
          <p:cNvSpPr txBox="1"/>
          <p:nvPr/>
        </p:nvSpPr>
        <p:spPr>
          <a:xfrm>
            <a:off x="8522207" y="3246120"/>
            <a:ext cx="2816354" cy="764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Row counts, distinct values, histograms, skew, and top-N values — the shape of the data.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THE INSIGHT</a:t>
            </a:r>
          </a:p>
        </p:txBody>
      </p:sp>
      <p:sp>
        <p:nvSpPr>
          <p:cNvPr id="65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Optimizer statistics are a generation spec in disguise</a:t>
            </a:r>
          </a:p>
        </p:txBody>
      </p:sp>
      <p:sp>
        <p:nvSpPr>
          <p:cNvPr id="66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67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68" name="Shape 4"/>
          <p:cNvSpPr/>
          <p:nvPr/>
        </p:nvSpPr>
        <p:spPr>
          <a:xfrm>
            <a:off x="548640" y="1417319"/>
            <a:ext cx="11091672" cy="1417321"/>
          </a:xfrm>
          <a:prstGeom prst="roundRect">
            <a:avLst>
              <a:gd name="adj" fmla="val 645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5"/>
          <p:cNvSpPr txBox="1"/>
          <p:nvPr/>
        </p:nvSpPr>
        <p:spPr>
          <a:xfrm>
            <a:off x="960120" y="1758949"/>
            <a:ext cx="10332720" cy="7340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30000"/>
              </a:lnSpc>
              <a:defRPr sz="1900">
                <a:solidFill>
                  <a:srgbClr val="C7CDD9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The same statistics that guide the query optimizer </a:t>
            </a:r>
            <a:r>
              <a:rPr>
                <a:solidFill>
                  <a:srgbClr val="E5C07B"/>
                </a:solidFill>
              </a:rPr>
              <a:t>can describe the source data completely enough to simulate a statistically equivalent system</a:t>
            </a:r>
            <a:r>
              <a:t> — without accessing a single source row.</a:t>
            </a:r>
          </a:p>
        </p:txBody>
      </p:sp>
      <p:sp>
        <p:nvSpPr>
          <p:cNvPr id="70" name="Text 6"/>
          <p:cNvSpPr txBox="1"/>
          <p:nvPr/>
        </p:nvSpPr>
        <p:spPr>
          <a:xfrm>
            <a:off x="594360" y="3139879"/>
            <a:ext cx="905256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300">
                <a:solidFill>
                  <a:srgbClr val="8891A0"/>
                </a:solidFill>
              </a:defRPr>
            </a:lvl1pPr>
          </a:lstStyle>
          <a:p>
            <a:pPr/>
            <a:r>
              <a:t>No existing tool combines all four properties, automated:</a:t>
            </a:r>
          </a:p>
        </p:txBody>
      </p:sp>
      <p:graphicFrame>
        <p:nvGraphicFramePr>
          <p:cNvPr id="71" name="Table 0"/>
          <p:cNvGraphicFramePr/>
          <p:nvPr/>
        </p:nvGraphicFramePr>
        <p:xfrm>
          <a:off x="548640" y="3520440"/>
          <a:ext cx="11091672" cy="26517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776471"/>
                <a:gridCol w="1828800"/>
                <a:gridCol w="2286000"/>
                <a:gridCol w="1828800"/>
                <a:gridCol w="1371600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F2F4F8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2F4F8"/>
                          </a:solidFill>
                        </a:rPr>
                        <a:t>Any Schema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2F4F8"/>
                          </a:solidFill>
                        </a:rPr>
                        <a:t>Statistical Fidelity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2F4F8"/>
                          </a:solidFill>
                        </a:rPr>
                        <a:t>No Source Rows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300">
                          <a:solidFill>
                            <a:srgbClr val="F2F4F8"/>
                          </a:solidFill>
                        </a:rPr>
                        <a:t>Automated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C7CDD9"/>
                          </a:solidFill>
                        </a:rPr>
                        <a:t>DataGenX V2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E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E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E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E34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E34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C7CDD9"/>
                          </a:solidFill>
                        </a:rPr>
                        <a:t>TPC-H / DS / C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E06C75"/>
                          </a:solidFill>
                        </a:rPr>
                        <a:t>✗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E06C75"/>
                          </a:solidFill>
                        </a:rPr>
                        <a:t>✗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C7CDD9"/>
                          </a:solidFill>
                        </a:rPr>
                        <a:t>PDGF / Myriad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8891A0"/>
                          </a:solidFill>
                        </a:rPr>
                        <a:t>~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E06C75"/>
                          </a:solidFill>
                        </a:rPr>
                        <a:t>✗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C7CDD9"/>
                          </a:solidFill>
                        </a:rPr>
                        <a:t>SDV / PrivLava / RelDiff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8891A0"/>
                          </a:solidFill>
                        </a:rPr>
                        <a:t>~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27C93F"/>
                          </a:solidFill>
                        </a:rPr>
                        <a:t>✓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E06C75"/>
                          </a:solidFill>
                        </a:rPr>
                        <a:t>✗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8891A0"/>
                          </a:solidFill>
                        </a:rPr>
                        <a:t>~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FROM V1 TO V2</a:t>
            </a:r>
          </a:p>
        </p:txBody>
      </p:sp>
      <p:sp>
        <p:nvSpPr>
          <p:cNvPr id="74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“automatic” actually has to get right</a:t>
            </a:r>
          </a:p>
        </p:txBody>
      </p:sp>
      <p:sp>
        <p:nvSpPr>
          <p:cNvPr id="75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76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7" name="Text 4"/>
          <p:cNvSpPr txBox="1"/>
          <p:nvPr/>
        </p:nvSpPr>
        <p:spPr>
          <a:xfrm>
            <a:off x="594359" y="1390410"/>
            <a:ext cx="10972802" cy="556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400">
                <a:solidFill>
                  <a:srgbClr val="C7CDD9"/>
                </a:solidFill>
              </a:defRPr>
            </a:lvl1pPr>
          </a:lstStyle>
          <a:p>
            <a:pPr/>
            <a:r>
              <a:t>V1's annotations still have to exist for every column, in every table. V2's job is to derive all of them correctly — with no human review, and without breaking referential integrity anywhere in the schema.</a:t>
            </a:r>
          </a:p>
        </p:txBody>
      </p:sp>
      <p:sp>
        <p:nvSpPr>
          <p:cNvPr id="78" name="Shape 5"/>
          <p:cNvSpPr/>
          <p:nvPr/>
        </p:nvSpPr>
        <p:spPr>
          <a:xfrm>
            <a:off x="548640" y="2286000"/>
            <a:ext cx="3547872" cy="3200400"/>
          </a:xfrm>
          <a:prstGeom prst="roundRect">
            <a:avLst>
              <a:gd name="adj" fmla="val 2857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Shape 6"/>
          <p:cNvSpPr/>
          <p:nvPr/>
        </p:nvSpPr>
        <p:spPr>
          <a:xfrm>
            <a:off x="868680" y="2606039"/>
            <a:ext cx="457201" cy="457201"/>
          </a:xfrm>
          <a:prstGeom prst="roundRect">
            <a:avLst>
              <a:gd name="adj" fmla="val 50000"/>
            </a:avLst>
          </a:prstGeom>
          <a:solidFill>
            <a:srgbClr val="56B6C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Text 7"/>
          <p:cNvSpPr txBox="1"/>
          <p:nvPr/>
        </p:nvSpPr>
        <p:spPr>
          <a:xfrm>
            <a:off x="914400" y="2668096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1B1E23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1" name="Text 8"/>
          <p:cNvSpPr txBox="1"/>
          <p:nvPr/>
        </p:nvSpPr>
        <p:spPr>
          <a:xfrm>
            <a:off x="914399" y="3354070"/>
            <a:ext cx="2816354" cy="332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FK dependency graph</a:t>
            </a:r>
          </a:p>
        </p:txBody>
      </p:sp>
      <p:sp>
        <p:nvSpPr>
          <p:cNvPr id="82" name="Text 9"/>
          <p:cNvSpPr txBox="1"/>
          <p:nvPr/>
        </p:nvSpPr>
        <p:spPr>
          <a:xfrm>
            <a:off x="914399" y="3794759"/>
            <a:ext cx="2816354" cy="9609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Builds the full graph across the schema and topologically sorts generation order. Get this wrong and child tables reference parents that don't exist yet.</a:t>
            </a:r>
          </a:p>
        </p:txBody>
      </p:sp>
      <p:sp>
        <p:nvSpPr>
          <p:cNvPr id="83" name="Shape 10"/>
          <p:cNvSpPr/>
          <p:nvPr/>
        </p:nvSpPr>
        <p:spPr>
          <a:xfrm>
            <a:off x="4352544" y="2286000"/>
            <a:ext cx="3547872" cy="3200400"/>
          </a:xfrm>
          <a:prstGeom prst="roundRect">
            <a:avLst>
              <a:gd name="adj" fmla="val 2857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Shape 11"/>
          <p:cNvSpPr/>
          <p:nvPr/>
        </p:nvSpPr>
        <p:spPr>
          <a:xfrm>
            <a:off x="4672584" y="2606039"/>
            <a:ext cx="457201" cy="457201"/>
          </a:xfrm>
          <a:prstGeom prst="roundRect">
            <a:avLst>
              <a:gd name="adj" fmla="val 50000"/>
            </a:avLst>
          </a:prstGeom>
          <a:solidFill>
            <a:srgbClr val="C678D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12"/>
          <p:cNvSpPr txBox="1"/>
          <p:nvPr/>
        </p:nvSpPr>
        <p:spPr>
          <a:xfrm>
            <a:off x="4718304" y="2668096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1B1E23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6" name="Text 13"/>
          <p:cNvSpPr txBox="1"/>
          <p:nvPr/>
        </p:nvSpPr>
        <p:spPr>
          <a:xfrm>
            <a:off x="4718304" y="3354070"/>
            <a:ext cx="2816353" cy="332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Column classification</a:t>
            </a:r>
          </a:p>
        </p:txBody>
      </p:sp>
      <p:sp>
        <p:nvSpPr>
          <p:cNvPr id="87" name="Text 14"/>
          <p:cNvSpPr txBox="1"/>
          <p:nvPr/>
        </p:nvSpPr>
        <p:spPr>
          <a:xfrm>
            <a:off x="4718304" y="3794759"/>
            <a:ext cx="2816353" cy="11985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Every column matched by role, type, cardinality, and histogram shape to one of eleven expression strategies — sequential PK, dense FK, sparse FK, bucket-cycling, and more.</a:t>
            </a:r>
          </a:p>
        </p:txBody>
      </p:sp>
      <p:sp>
        <p:nvSpPr>
          <p:cNvPr id="88" name="Shape 15"/>
          <p:cNvSpPr/>
          <p:nvPr/>
        </p:nvSpPr>
        <p:spPr>
          <a:xfrm>
            <a:off x="8156447" y="2286000"/>
            <a:ext cx="3547873" cy="3200400"/>
          </a:xfrm>
          <a:prstGeom prst="roundRect">
            <a:avLst>
              <a:gd name="adj" fmla="val 2857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Shape 16"/>
          <p:cNvSpPr/>
          <p:nvPr/>
        </p:nvSpPr>
        <p:spPr>
          <a:xfrm>
            <a:off x="8476488" y="2606039"/>
            <a:ext cx="457201" cy="457201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0" name="Text 17"/>
          <p:cNvSpPr txBox="1"/>
          <p:nvPr/>
        </p:nvSpPr>
        <p:spPr>
          <a:xfrm>
            <a:off x="8522208" y="2668096"/>
            <a:ext cx="3657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>
                <a:solidFill>
                  <a:srgbClr val="1B1E23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91" name="Text 18"/>
          <p:cNvSpPr txBox="1"/>
          <p:nvPr/>
        </p:nvSpPr>
        <p:spPr>
          <a:xfrm>
            <a:off x="8522207" y="3354070"/>
            <a:ext cx="2816354" cy="332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6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Three engine adapters</a:t>
            </a:r>
          </a:p>
        </p:txBody>
      </p:sp>
      <p:sp>
        <p:nvSpPr>
          <p:cNvPr id="92" name="Text 19"/>
          <p:cNvSpPr txBox="1"/>
          <p:nvPr/>
        </p:nvSpPr>
        <p:spPr>
          <a:xfrm>
            <a:off x="8522207" y="3794759"/>
            <a:ext cx="2816354" cy="9609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30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MySQL, TiDB, and SingleStore expose catalog metadata, histograms, and statistics in completely different formats. Each needs its own normalization layer.</a:t>
            </a:r>
          </a:p>
        </p:txBody>
      </p:sp>
      <p:sp>
        <p:nvSpPr>
          <p:cNvPr id="93" name="Shape 20"/>
          <p:cNvSpPr/>
          <p:nvPr/>
        </p:nvSpPr>
        <p:spPr>
          <a:xfrm>
            <a:off x="548640" y="5715000"/>
            <a:ext cx="11091672" cy="640081"/>
          </a:xfrm>
          <a:prstGeom prst="roundRect">
            <a:avLst>
              <a:gd name="adj" fmla="val 1428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21"/>
          <p:cNvSpPr txBox="1"/>
          <p:nvPr/>
        </p:nvSpPr>
        <p:spPr>
          <a:xfrm>
            <a:off x="914400" y="5905939"/>
            <a:ext cx="103327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300">
                <a:solidFill>
                  <a:srgbClr val="E5C07B"/>
                </a:solidFill>
              </a:defRPr>
            </a:pPr>
            <a:r>
              <a:t>~5 seconds </a:t>
            </a:r>
            <a:r>
              <a:rPr b="0">
                <a:solidFill>
                  <a:srgbClr val="C7CDD9"/>
                </a:solidFill>
              </a:rPr>
              <a:t>to generate a full 24-table schema — but only because all three of the above run automatically, correctly, every time.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ARCHITECTURE</a:t>
            </a:r>
          </a:p>
        </p:txBody>
      </p:sp>
      <p:sp>
        <p:nvSpPr>
          <p:cNvPr id="97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three-level pipeline — inspectable at every stage</a:t>
            </a:r>
          </a:p>
        </p:txBody>
      </p:sp>
      <p:sp>
        <p:nvSpPr>
          <p:cNvPr id="98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99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0" name="Text 4"/>
          <p:cNvSpPr txBox="1"/>
          <p:nvPr/>
        </p:nvSpPr>
        <p:spPr>
          <a:xfrm>
            <a:off x="594360" y="1235886"/>
            <a:ext cx="8138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pc="100" sz="1100">
                <a:solidFill>
                  <a:srgbClr val="56B6C2"/>
                </a:solidFill>
              </a:defRPr>
            </a:pPr>
            <a:r>
              <a:t>LEVEL 1 — METADATA EXTRACTION</a:t>
            </a:r>
            <a:r>
              <a:rPr b="0" i="1">
                <a:solidFill>
                  <a:srgbClr val="8891A0"/>
                </a:solidFill>
              </a:rPr>
              <a:t>   (editable)</a:t>
            </a:r>
          </a:p>
        </p:txBody>
      </p:sp>
      <p:sp>
        <p:nvSpPr>
          <p:cNvPr id="101" name="Shape 5"/>
          <p:cNvSpPr/>
          <p:nvPr/>
        </p:nvSpPr>
        <p:spPr>
          <a:xfrm>
            <a:off x="2528316" y="1508760"/>
            <a:ext cx="2194561" cy="457201"/>
          </a:xfrm>
          <a:prstGeom prst="roundRect">
            <a:avLst>
              <a:gd name="adj" fmla="val 20000"/>
            </a:avLst>
          </a:prstGeom>
          <a:solidFill>
            <a:srgbClr val="2B303A"/>
          </a:solidFill>
          <a:ln w="12700">
            <a:solidFill>
              <a:srgbClr val="56B6C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Text 6"/>
          <p:cNvSpPr txBox="1"/>
          <p:nvPr/>
        </p:nvSpPr>
        <p:spPr>
          <a:xfrm>
            <a:off x="2574036" y="1596390"/>
            <a:ext cx="21031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56B6C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MySQL</a:t>
            </a:r>
          </a:p>
        </p:txBody>
      </p:sp>
      <p:sp>
        <p:nvSpPr>
          <p:cNvPr id="103" name="Shape 7"/>
          <p:cNvSpPr/>
          <p:nvPr/>
        </p:nvSpPr>
        <p:spPr>
          <a:xfrm>
            <a:off x="4997196" y="1508760"/>
            <a:ext cx="2194561" cy="457201"/>
          </a:xfrm>
          <a:prstGeom prst="roundRect">
            <a:avLst>
              <a:gd name="adj" fmla="val 20000"/>
            </a:avLst>
          </a:prstGeom>
          <a:solidFill>
            <a:srgbClr val="2B303A"/>
          </a:solidFill>
          <a:ln w="12700">
            <a:solidFill>
              <a:srgbClr val="56B6C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Text 8"/>
          <p:cNvSpPr txBox="1"/>
          <p:nvPr/>
        </p:nvSpPr>
        <p:spPr>
          <a:xfrm>
            <a:off x="5042916" y="1596390"/>
            <a:ext cx="21031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56B6C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TiDB</a:t>
            </a:r>
          </a:p>
        </p:txBody>
      </p:sp>
      <p:sp>
        <p:nvSpPr>
          <p:cNvPr id="105" name="Shape 9"/>
          <p:cNvSpPr/>
          <p:nvPr/>
        </p:nvSpPr>
        <p:spPr>
          <a:xfrm>
            <a:off x="7466076" y="1508760"/>
            <a:ext cx="2194561" cy="457201"/>
          </a:xfrm>
          <a:prstGeom prst="roundRect">
            <a:avLst>
              <a:gd name="adj" fmla="val 20000"/>
            </a:avLst>
          </a:prstGeom>
          <a:solidFill>
            <a:srgbClr val="2B303A"/>
          </a:solidFill>
          <a:ln w="12700">
            <a:solidFill>
              <a:srgbClr val="56B6C2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Text 10"/>
          <p:cNvSpPr txBox="1"/>
          <p:nvPr/>
        </p:nvSpPr>
        <p:spPr>
          <a:xfrm>
            <a:off x="7511796" y="1596390"/>
            <a:ext cx="21031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56B6C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SingleStore</a:t>
            </a:r>
          </a:p>
        </p:txBody>
      </p:sp>
      <p:sp>
        <p:nvSpPr>
          <p:cNvPr id="107" name="Shape 11"/>
          <p:cNvSpPr/>
          <p:nvPr/>
        </p:nvSpPr>
        <p:spPr>
          <a:xfrm>
            <a:off x="6094476" y="2011679"/>
            <a:ext cx="1" cy="137161"/>
          </a:xfrm>
          <a:prstGeom prst="line">
            <a:avLst/>
          </a:prstGeom>
          <a:ln w="25400">
            <a:solidFill>
              <a:srgbClr val="3A3F4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Shape 12"/>
          <p:cNvSpPr/>
          <p:nvPr/>
        </p:nvSpPr>
        <p:spPr>
          <a:xfrm>
            <a:off x="1737360" y="2194560"/>
            <a:ext cx="8714232" cy="594361"/>
          </a:xfrm>
          <a:prstGeom prst="roundRect">
            <a:avLst>
              <a:gd name="adj" fmla="val 15385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" name="Text 13"/>
          <p:cNvSpPr txBox="1"/>
          <p:nvPr/>
        </p:nvSpPr>
        <p:spPr>
          <a:xfrm>
            <a:off x="2057399" y="2275771"/>
            <a:ext cx="8074154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F2F4F8"/>
                </a:solidFill>
              </a:defRPr>
            </a:lvl1pPr>
          </a:lstStyle>
          <a:p>
            <a:pPr/>
            <a:r>
              <a:t>Engine Adapter  →  Normalized Statistics Structure</a:t>
            </a:r>
          </a:p>
        </p:txBody>
      </p:sp>
      <p:sp>
        <p:nvSpPr>
          <p:cNvPr id="110" name="Text 14"/>
          <p:cNvSpPr txBox="1"/>
          <p:nvPr/>
        </p:nvSpPr>
        <p:spPr>
          <a:xfrm>
            <a:off x="2057399" y="2527045"/>
            <a:ext cx="8074154" cy="231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8891A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schema DDL  ·  row counts  ·  distinct counts  ·  histograms  ·  FK graph</a:t>
            </a:r>
          </a:p>
        </p:txBody>
      </p:sp>
      <p:sp>
        <p:nvSpPr>
          <p:cNvPr id="111" name="Shape 15"/>
          <p:cNvSpPr/>
          <p:nvPr/>
        </p:nvSpPr>
        <p:spPr>
          <a:xfrm>
            <a:off x="6094476" y="2834639"/>
            <a:ext cx="1" cy="182881"/>
          </a:xfrm>
          <a:prstGeom prst="line">
            <a:avLst/>
          </a:prstGeom>
          <a:ln w="25400">
            <a:solidFill>
              <a:srgbClr val="3A3F4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Text 16"/>
          <p:cNvSpPr txBox="1"/>
          <p:nvPr/>
        </p:nvSpPr>
        <p:spPr>
          <a:xfrm>
            <a:off x="594360" y="3110406"/>
            <a:ext cx="8138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pc="100" sz="1100">
                <a:solidFill>
                  <a:srgbClr val="C678DD"/>
                </a:solidFill>
              </a:defRPr>
            </a:pPr>
            <a:r>
              <a:t>LEVEL 2 — TEMPLATE GENERATION</a:t>
            </a:r>
            <a:r>
              <a:rPr b="0" i="1">
                <a:solidFill>
                  <a:srgbClr val="8891A0"/>
                </a:solidFill>
              </a:rPr>
              <a:t>   (editable)</a:t>
            </a:r>
          </a:p>
        </p:txBody>
      </p:sp>
      <p:sp>
        <p:nvSpPr>
          <p:cNvPr id="113" name="Shape 17"/>
          <p:cNvSpPr/>
          <p:nvPr/>
        </p:nvSpPr>
        <p:spPr>
          <a:xfrm>
            <a:off x="548640" y="3383279"/>
            <a:ext cx="1734312" cy="621793"/>
          </a:xfrm>
          <a:prstGeom prst="roundRect">
            <a:avLst>
              <a:gd name="adj" fmla="val 1470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Text 18"/>
          <p:cNvSpPr txBox="1"/>
          <p:nvPr/>
        </p:nvSpPr>
        <p:spPr>
          <a:xfrm>
            <a:off x="640079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FK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Graph</a:t>
            </a:r>
          </a:p>
        </p:txBody>
      </p:sp>
      <p:sp>
        <p:nvSpPr>
          <p:cNvPr id="115" name="Text 19"/>
          <p:cNvSpPr txBox="1"/>
          <p:nvPr/>
        </p:nvSpPr>
        <p:spPr>
          <a:xfrm>
            <a:off x="2328671" y="3630675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8891A0"/>
                </a:solidFill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116" name="Shape 20"/>
          <p:cNvSpPr/>
          <p:nvPr/>
        </p:nvSpPr>
        <p:spPr>
          <a:xfrm>
            <a:off x="2420111" y="3383279"/>
            <a:ext cx="1734313" cy="621793"/>
          </a:xfrm>
          <a:prstGeom prst="roundRect">
            <a:avLst>
              <a:gd name="adj" fmla="val 1470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21"/>
          <p:cNvSpPr txBox="1"/>
          <p:nvPr/>
        </p:nvSpPr>
        <p:spPr>
          <a:xfrm>
            <a:off x="2511552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Topo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Sort</a:t>
            </a:r>
          </a:p>
        </p:txBody>
      </p:sp>
      <p:sp>
        <p:nvSpPr>
          <p:cNvPr id="118" name="Text 22"/>
          <p:cNvSpPr txBox="1"/>
          <p:nvPr/>
        </p:nvSpPr>
        <p:spPr>
          <a:xfrm>
            <a:off x="4200143" y="3630675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8891A0"/>
                </a:solidFill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119" name="Shape 23"/>
          <p:cNvSpPr/>
          <p:nvPr/>
        </p:nvSpPr>
        <p:spPr>
          <a:xfrm>
            <a:off x="4291584" y="3383279"/>
            <a:ext cx="1734313" cy="621793"/>
          </a:xfrm>
          <a:prstGeom prst="roundRect">
            <a:avLst>
              <a:gd name="adj" fmla="val 1470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24"/>
          <p:cNvSpPr txBox="1"/>
          <p:nvPr/>
        </p:nvSpPr>
        <p:spPr>
          <a:xfrm>
            <a:off x="4383023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Column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Classify</a:t>
            </a:r>
          </a:p>
        </p:txBody>
      </p:sp>
      <p:sp>
        <p:nvSpPr>
          <p:cNvPr id="121" name="Text 25"/>
          <p:cNvSpPr txBox="1"/>
          <p:nvPr/>
        </p:nvSpPr>
        <p:spPr>
          <a:xfrm>
            <a:off x="6071616" y="3630675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8891A0"/>
                </a:solidFill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122" name="Shape 26"/>
          <p:cNvSpPr/>
          <p:nvPr/>
        </p:nvSpPr>
        <p:spPr>
          <a:xfrm>
            <a:off x="6163055" y="3383279"/>
            <a:ext cx="1734313" cy="621793"/>
          </a:xfrm>
          <a:prstGeom prst="roundRect">
            <a:avLst>
              <a:gd name="adj" fmla="val 1470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Text 27"/>
          <p:cNvSpPr txBox="1"/>
          <p:nvPr/>
        </p:nvSpPr>
        <p:spPr>
          <a:xfrm>
            <a:off x="6254496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Expression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Select</a:t>
            </a:r>
          </a:p>
        </p:txBody>
      </p:sp>
      <p:sp>
        <p:nvSpPr>
          <p:cNvPr id="124" name="Text 28"/>
          <p:cNvSpPr txBox="1"/>
          <p:nvPr/>
        </p:nvSpPr>
        <p:spPr>
          <a:xfrm>
            <a:off x="7943088" y="3630675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8891A0"/>
                </a:solidFill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125" name="Shape 29"/>
          <p:cNvSpPr/>
          <p:nvPr/>
        </p:nvSpPr>
        <p:spPr>
          <a:xfrm>
            <a:off x="8034528" y="3383279"/>
            <a:ext cx="1734313" cy="621793"/>
          </a:xfrm>
          <a:prstGeom prst="roundRect">
            <a:avLst>
              <a:gd name="adj" fmla="val 14706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Text 30"/>
          <p:cNvSpPr txBox="1"/>
          <p:nvPr/>
        </p:nvSpPr>
        <p:spPr>
          <a:xfrm>
            <a:off x="8125967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Privacy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C7CDD9"/>
                </a:solidFill>
              </a:defRPr>
            </a:pPr>
            <a:r>
              <a:t>Remap</a:t>
            </a:r>
          </a:p>
        </p:txBody>
      </p:sp>
      <p:sp>
        <p:nvSpPr>
          <p:cNvPr id="127" name="Text 31"/>
          <p:cNvSpPr txBox="1"/>
          <p:nvPr/>
        </p:nvSpPr>
        <p:spPr>
          <a:xfrm>
            <a:off x="9814560" y="3630675"/>
            <a:ext cx="457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500">
                <a:solidFill>
                  <a:srgbClr val="8891A0"/>
                </a:solidFill>
              </a:defRPr>
            </a:lvl1pPr>
          </a:lstStyle>
          <a:p>
            <a:pPr/>
            <a:r>
              <a:t>›</a:t>
            </a:r>
          </a:p>
        </p:txBody>
      </p:sp>
      <p:sp>
        <p:nvSpPr>
          <p:cNvPr id="128" name="Shape 32"/>
          <p:cNvSpPr/>
          <p:nvPr/>
        </p:nvSpPr>
        <p:spPr>
          <a:xfrm>
            <a:off x="9906000" y="3383279"/>
            <a:ext cx="1734312" cy="621793"/>
          </a:xfrm>
          <a:prstGeom prst="roundRect">
            <a:avLst>
              <a:gd name="adj" fmla="val 14706"/>
            </a:avLst>
          </a:prstGeom>
          <a:solidFill>
            <a:srgbClr val="2B303A"/>
          </a:solidFill>
          <a:ln w="15875">
            <a:solidFill>
              <a:srgbClr val="E5C07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Text 33"/>
          <p:cNvSpPr txBox="1"/>
          <p:nvPr/>
        </p:nvSpPr>
        <p:spPr>
          <a:xfrm>
            <a:off x="9997439" y="3493943"/>
            <a:ext cx="1551433" cy="400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000">
                <a:solidFill>
                  <a:srgbClr val="E5C07B"/>
                </a:solidFill>
              </a:defRPr>
            </a:pPr>
            <a:r>
              <a:t>Annotated</a:t>
            </a:r>
          </a:p>
          <a:p>
            <a:pPr algn="ctr">
              <a:lnSpc>
                <a:spcPct val="104999"/>
              </a:lnSpc>
              <a:defRPr b="1" sz="1000">
                <a:solidFill>
                  <a:srgbClr val="E5C07B"/>
                </a:solidFill>
              </a:defRPr>
            </a:pPr>
            <a:r>
              <a:t>DDL</a:t>
            </a:r>
          </a:p>
        </p:txBody>
      </p:sp>
      <p:sp>
        <p:nvSpPr>
          <p:cNvPr id="130" name="Shape 34"/>
          <p:cNvSpPr/>
          <p:nvPr/>
        </p:nvSpPr>
        <p:spPr>
          <a:xfrm>
            <a:off x="6094476" y="4050791"/>
            <a:ext cx="1" cy="182881"/>
          </a:xfrm>
          <a:prstGeom prst="line">
            <a:avLst/>
          </a:prstGeom>
          <a:ln w="25400">
            <a:solidFill>
              <a:srgbClr val="3A3F4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31" name="Text 35"/>
          <p:cNvSpPr txBox="1"/>
          <p:nvPr/>
        </p:nvSpPr>
        <p:spPr>
          <a:xfrm>
            <a:off x="594360" y="4326558"/>
            <a:ext cx="81381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1100">
                <a:solidFill>
                  <a:srgbClr val="E5C07B"/>
                </a:solidFill>
              </a:defRPr>
            </a:lvl1pPr>
          </a:lstStyle>
          <a:p>
            <a:pPr/>
            <a:r>
              <a:t>LEVEL 3 — DATA GENERATION</a:t>
            </a:r>
          </a:p>
        </p:txBody>
      </p:sp>
      <p:sp>
        <p:nvSpPr>
          <p:cNvPr id="132" name="Shape 36"/>
          <p:cNvSpPr/>
          <p:nvPr/>
        </p:nvSpPr>
        <p:spPr>
          <a:xfrm>
            <a:off x="699516" y="4599432"/>
            <a:ext cx="3383280" cy="502921"/>
          </a:xfrm>
          <a:prstGeom prst="roundRect">
            <a:avLst>
              <a:gd name="adj" fmla="val 1818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37"/>
          <p:cNvSpPr txBox="1"/>
          <p:nvPr/>
        </p:nvSpPr>
        <p:spPr>
          <a:xfrm>
            <a:off x="745236" y="4627567"/>
            <a:ext cx="3291840" cy="446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200">
                <a:solidFill>
                  <a:srgbClr val="F2F4F8"/>
                </a:solidFill>
              </a:defRPr>
            </a:pPr>
            <a:r>
              <a:t>Annotated DDL</a:t>
            </a:r>
          </a:p>
          <a:p>
            <a:pPr algn="ctr">
              <a:lnSpc>
                <a:spcPct val="104999"/>
              </a:lnSpc>
              <a:defRPr b="1" sz="1200">
                <a:solidFill>
                  <a:srgbClr val="F2F4F8"/>
                </a:solidFill>
              </a:defRPr>
            </a:pPr>
            <a:r>
              <a:t>(per table)</a:t>
            </a:r>
          </a:p>
        </p:txBody>
      </p:sp>
      <p:sp>
        <p:nvSpPr>
          <p:cNvPr id="134" name="Shape 38"/>
          <p:cNvSpPr/>
          <p:nvPr/>
        </p:nvSpPr>
        <p:spPr>
          <a:xfrm>
            <a:off x="4110228" y="4850891"/>
            <a:ext cx="265177" cy="1"/>
          </a:xfrm>
          <a:prstGeom prst="line">
            <a:avLst/>
          </a:prstGeom>
          <a:ln w="25400">
            <a:solidFill>
              <a:srgbClr val="3A3F4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Shape 39"/>
          <p:cNvSpPr/>
          <p:nvPr/>
        </p:nvSpPr>
        <p:spPr>
          <a:xfrm>
            <a:off x="4402835" y="4599432"/>
            <a:ext cx="3383281" cy="502921"/>
          </a:xfrm>
          <a:prstGeom prst="roundRect">
            <a:avLst>
              <a:gd name="adj" fmla="val 1818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40"/>
          <p:cNvSpPr txBox="1"/>
          <p:nvPr/>
        </p:nvSpPr>
        <p:spPr>
          <a:xfrm>
            <a:off x="4448555" y="4627567"/>
            <a:ext cx="3291841" cy="446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b="1" sz="1200">
                <a:solidFill>
                  <a:srgbClr val="F2F4F8"/>
                </a:solidFill>
              </a:defRPr>
            </a:pPr>
            <a:r>
              <a:t>DataGenX V1</a:t>
            </a:r>
          </a:p>
          <a:p>
            <a:pPr algn="ctr">
              <a:lnSpc>
                <a:spcPct val="104999"/>
              </a:lnSpc>
              <a:defRPr b="1" sz="1200">
                <a:solidFill>
                  <a:srgbClr val="F2F4F8"/>
                </a:solidFill>
              </a:defRPr>
            </a:pPr>
            <a:r>
              <a:t>binary</a:t>
            </a:r>
          </a:p>
        </p:txBody>
      </p:sp>
      <p:sp>
        <p:nvSpPr>
          <p:cNvPr id="137" name="Shape 41"/>
          <p:cNvSpPr/>
          <p:nvPr/>
        </p:nvSpPr>
        <p:spPr>
          <a:xfrm>
            <a:off x="7813547" y="4850891"/>
            <a:ext cx="265177" cy="1"/>
          </a:xfrm>
          <a:prstGeom prst="line">
            <a:avLst/>
          </a:prstGeom>
          <a:ln w="25400">
            <a:solidFill>
              <a:srgbClr val="3A3F4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Shape 42"/>
          <p:cNvSpPr/>
          <p:nvPr/>
        </p:nvSpPr>
        <p:spPr>
          <a:xfrm>
            <a:off x="8106156" y="4599432"/>
            <a:ext cx="3383281" cy="502921"/>
          </a:xfrm>
          <a:prstGeom prst="roundRect">
            <a:avLst>
              <a:gd name="adj" fmla="val 18182"/>
            </a:avLst>
          </a:prstGeom>
          <a:solidFill>
            <a:srgbClr val="2B303A"/>
          </a:solidFill>
          <a:ln w="15875">
            <a:solidFill>
              <a:srgbClr val="27C93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Text 43"/>
          <p:cNvSpPr txBox="1"/>
          <p:nvPr/>
        </p:nvSpPr>
        <p:spPr>
          <a:xfrm>
            <a:off x="8151876" y="4726739"/>
            <a:ext cx="3291841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04999"/>
              </a:lnSpc>
              <a:defRPr b="1" sz="1200">
                <a:solidFill>
                  <a:srgbClr val="27C93F"/>
                </a:solidFill>
              </a:defRPr>
            </a:lvl1pPr>
          </a:lstStyle>
          <a:p>
            <a:pPr/>
            <a:r>
              <a:t>CSV Output</a:t>
            </a:r>
          </a:p>
        </p:txBody>
      </p:sp>
      <p:sp>
        <p:nvSpPr>
          <p:cNvPr id="140" name="Text 44"/>
          <p:cNvSpPr txBox="1"/>
          <p:nvPr/>
        </p:nvSpPr>
        <p:spPr>
          <a:xfrm>
            <a:off x="594360" y="5446697"/>
            <a:ext cx="1100023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8891A0"/>
                </a:solidFill>
              </a:defRPr>
            </a:lvl1pPr>
          </a:lstStyle>
          <a:p>
            <a:pPr/>
            <a:r>
              <a:t>Each arrow is a full subsystem, not a function call — Levels 1 and 2 are fully inspectable, and Level 2's output is valid, human-readable SQL before Level 3 ever runs.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WORKED EXAMPLE</a:t>
            </a:r>
          </a:p>
        </p:txBody>
      </p:sp>
      <p:sp>
        <p:nvSpPr>
          <p:cNvPr id="143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TPC-H orders — from statistics to template</a:t>
            </a:r>
          </a:p>
        </p:txBody>
      </p:sp>
      <p:sp>
        <p:nvSpPr>
          <p:cNvPr id="144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145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46" name="Shape 4"/>
          <p:cNvSpPr/>
          <p:nvPr/>
        </p:nvSpPr>
        <p:spPr>
          <a:xfrm>
            <a:off x="548640" y="1417319"/>
            <a:ext cx="11091672" cy="4251961"/>
          </a:xfrm>
          <a:prstGeom prst="roundRect">
            <a:avLst>
              <a:gd name="adj" fmla="val 2151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Shape 5"/>
          <p:cNvSpPr/>
          <p:nvPr/>
        </p:nvSpPr>
        <p:spPr>
          <a:xfrm>
            <a:off x="548640" y="1417319"/>
            <a:ext cx="11091672" cy="4251961"/>
          </a:xfrm>
          <a:prstGeom prst="roundRect">
            <a:avLst>
              <a:gd name="adj" fmla="val 2581"/>
            </a:avLst>
          </a:prstGeom>
          <a:solidFill>
            <a:srgbClr val="242830"/>
          </a:solidFill>
          <a:ln w="12700">
            <a:miter lim="400000"/>
          </a:ln>
          <a:effectLst>
            <a:outerShdw sx="100000" sy="100000" kx="0" ky="0" algn="b" rotWithShape="0" blurRad="152400" dist="50800" dir="5400000">
              <a:srgbClr val="000000">
                <a:alpha val="40000"/>
              </a:srgbClr>
            </a:outerShdw>
          </a:effectLst>
        </p:spPr>
        <p:txBody>
          <a:bodyPr lIns="45719" rIns="45719"/>
          <a:lstStyle/>
          <a:p>
            <a:pPr/>
          </a:p>
        </p:txBody>
      </p:sp>
      <p:sp>
        <p:nvSpPr>
          <p:cNvPr id="148" name="Shape 6"/>
          <p:cNvSpPr/>
          <p:nvPr/>
        </p:nvSpPr>
        <p:spPr>
          <a:xfrm>
            <a:off x="868680" y="1691639"/>
            <a:ext cx="128017" cy="128017"/>
          </a:xfrm>
          <a:prstGeom prst="ellipse">
            <a:avLst/>
          </a:prstGeom>
          <a:solidFill>
            <a:srgbClr val="FF5F5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Shape 7"/>
          <p:cNvSpPr/>
          <p:nvPr/>
        </p:nvSpPr>
        <p:spPr>
          <a:xfrm>
            <a:off x="1078991" y="1691639"/>
            <a:ext cx="128017" cy="128017"/>
          </a:xfrm>
          <a:prstGeom prst="ellipse">
            <a:avLst/>
          </a:prstGeom>
          <a:solidFill>
            <a:srgbClr val="FFBD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Shape 8"/>
          <p:cNvSpPr/>
          <p:nvPr/>
        </p:nvSpPr>
        <p:spPr>
          <a:xfrm>
            <a:off x="1289303" y="1691639"/>
            <a:ext cx="128017" cy="128017"/>
          </a:xfrm>
          <a:prstGeom prst="ellipse">
            <a:avLst/>
          </a:prstGeom>
          <a:solidFill>
            <a:srgbClr val="27C93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Text 9"/>
          <p:cNvSpPr txBox="1"/>
          <p:nvPr/>
        </p:nvSpPr>
        <p:spPr>
          <a:xfrm>
            <a:off x="960119" y="2011679"/>
            <a:ext cx="10268713" cy="2338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200">
                <a:solidFill>
                  <a:srgbClr val="C678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CREATE</a:t>
            </a:r>
            <a:r>
              <a:rPr>
                <a:solidFill>
                  <a:srgbClr val="ABB2BF"/>
                </a:solidFill>
              </a:rPr>
              <a:t> </a:t>
            </a:r>
            <a:r>
              <a:t>TABLE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`orders`</a:t>
            </a:r>
            <a:r>
              <a:rPr>
                <a:solidFill>
                  <a:srgbClr val="ABB2BF"/>
                </a:solidFill>
              </a:rPr>
              <a:t> (</a:t>
            </a:r>
          </a:p>
          <a:p>
            <a:pPr>
              <a:lnSpc>
                <a:spcPct val="135000"/>
              </a:lnSpc>
              <a:defRPr sz="1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`o_orderkey`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56B6C2"/>
                </a:solidFill>
              </a:rPr>
              <a:t>int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C678DD"/>
                </a:solidFill>
              </a:rPr>
              <a:t>NOT NULL</a:t>
            </a:r>
            <a:r>
              <a:rPr>
                <a:solidFill>
                  <a:srgbClr val="ABB2BF"/>
                </a:solidFill>
              </a:rPr>
              <a:t> </a:t>
            </a:r>
            <a:r>
              <a:rPr i="1">
                <a:solidFill>
                  <a:srgbClr val="7F8A9C"/>
                </a:solidFill>
              </a:rPr>
              <a:t>/*{{ @o_orderkey := rownum }}*/</a:t>
            </a:r>
            <a:r>
              <a:rPr>
                <a:solidFill>
                  <a:srgbClr val="ABB2BF"/>
                </a:solidFill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`o_custkey`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56B6C2"/>
                </a:solidFill>
              </a:rPr>
              <a:t>int</a:t>
            </a:r>
            <a:r>
              <a:rPr>
                <a:solidFill>
                  <a:srgbClr val="ABB2BF"/>
                </a:solidFill>
              </a:rPr>
              <a:t> </a:t>
            </a:r>
            <a:r>
              <a:rPr i="1">
                <a:solidFill>
                  <a:srgbClr val="7F8A9C"/>
                </a:solidFill>
              </a:rPr>
              <a:t>/*{{ @o_custkey := rand.range(1, 150001) }}*/</a:t>
            </a:r>
            <a:r>
              <a:rPr>
                <a:solidFill>
                  <a:srgbClr val="ABB2BF"/>
                </a:solidFill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`o_orderdate`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56B6C2"/>
                </a:solidFill>
              </a:rPr>
              <a:t>date</a:t>
            </a:r>
            <a:r>
              <a:rPr>
                <a:solidFill>
                  <a:srgbClr val="ABB2BF"/>
                </a:solidFill>
              </a:rPr>
              <a:t> </a:t>
            </a:r>
            <a:r>
              <a:rPr i="1">
                <a:solidFill>
                  <a:srgbClr val="7F8A9C"/>
                </a:solidFill>
              </a:rPr>
              <a:t>/*{{ @o_orderdate := TIMESTAMP '2000-01-01' + INTERVAL rand.range(0, 2557) DAY }}*/</a:t>
            </a:r>
            <a:r>
              <a:rPr>
                <a:solidFill>
                  <a:srgbClr val="ABB2BF"/>
                </a:solidFill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`o_totalprice`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56B6C2"/>
                </a:solidFill>
              </a:rPr>
              <a:t>decimal(15,2)</a:t>
            </a:r>
            <a:r>
              <a:rPr>
                <a:solidFill>
                  <a:srgbClr val="ABB2BF"/>
                </a:solidFill>
              </a:rPr>
              <a:t> </a:t>
            </a:r>
            <a:r>
              <a:rPr i="1">
                <a:solidFill>
                  <a:srgbClr val="7F8A9C"/>
                </a:solidFill>
              </a:rPr>
              <a:t>/*{{ @o_totalprice :=</a:t>
            </a:r>
          </a:p>
          <a:p>
            <a:pPr>
              <a:lnSpc>
                <a:spcPct val="135000"/>
              </a:lnSpc>
              <a:defRPr i="1" sz="1200">
                <a:solidFill>
                  <a:srgbClr val="7F8A9C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case mod(rownum-1, 100) + 1</a:t>
            </a:r>
          </a:p>
          <a:p>
            <a:pPr>
              <a:lnSpc>
                <a:spcPct val="135000"/>
              </a:lnSpc>
              <a:defRPr i="1" sz="1200">
                <a:solidFill>
                  <a:srgbClr val="7F8A9C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when 1 then mod(div(rownum-1,100), 87) + 857  ...  end }}*/</a:t>
            </a:r>
            <a:r>
              <a:rPr i="0">
                <a:solidFill>
                  <a:srgbClr val="ABB2BF"/>
                </a:solidFill>
              </a:rPr>
              <a:t>,</a:t>
            </a:r>
          </a:p>
          <a:p>
            <a:pPr>
              <a:lnSpc>
                <a:spcPct val="135000"/>
              </a:lnSpc>
              <a:defRPr sz="1200">
                <a:solidFill>
                  <a:srgbClr val="C678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PRIMARY KEY</a:t>
            </a:r>
            <a:r>
              <a:rPr>
                <a:solidFill>
                  <a:srgbClr val="ABB2BF"/>
                </a:solidFill>
              </a:rPr>
              <a:t> (</a:t>
            </a:r>
            <a:r>
              <a:rPr>
                <a:solidFill>
                  <a:srgbClr val="E5C07B"/>
                </a:solidFill>
              </a:rPr>
              <a:t>`o_orderkey`</a:t>
            </a:r>
            <a:r>
              <a:rPr>
                <a:solidFill>
                  <a:srgbClr val="ABB2BF"/>
                </a:solidFill>
              </a:rPr>
              <a:t>),</a:t>
            </a:r>
          </a:p>
          <a:p>
            <a:pPr>
              <a:lnSpc>
                <a:spcPct val="135000"/>
              </a:lnSpc>
              <a:defRPr sz="1200">
                <a:solidFill>
                  <a:srgbClr val="C678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FOREIGN KEY</a:t>
            </a:r>
            <a:r>
              <a:rPr>
                <a:solidFill>
                  <a:srgbClr val="ABB2BF"/>
                </a:solidFill>
              </a:rPr>
              <a:t> (</a:t>
            </a:r>
            <a:r>
              <a:rPr>
                <a:solidFill>
                  <a:srgbClr val="E5C07B"/>
                </a:solidFill>
              </a:rPr>
              <a:t>`o_custkey`</a:t>
            </a:r>
            <a:r>
              <a:rPr>
                <a:solidFill>
                  <a:srgbClr val="ABB2BF"/>
                </a:solidFill>
              </a:rPr>
              <a:t>) </a:t>
            </a:r>
            <a:r>
              <a:t>REFERENCES</a:t>
            </a:r>
            <a:r>
              <a:rPr>
                <a:solidFill>
                  <a:srgbClr val="ABB2BF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`customer`</a:t>
            </a:r>
            <a:r>
              <a:rPr>
                <a:solidFill>
                  <a:srgbClr val="ABB2BF"/>
                </a:solidFill>
              </a:rPr>
              <a:t> (</a:t>
            </a:r>
            <a:r>
              <a:rPr>
                <a:solidFill>
                  <a:srgbClr val="E5C07B"/>
                </a:solidFill>
              </a:rPr>
              <a:t>`c_custkey`</a:t>
            </a:r>
            <a:r>
              <a:rPr>
                <a:solidFill>
                  <a:srgbClr val="ABB2BF"/>
                </a:solidFill>
              </a:rPr>
              <a:t>)</a:t>
            </a:r>
          </a:p>
          <a:p>
            <a:pPr>
              <a:lnSpc>
                <a:spcPct val="135000"/>
              </a:lnSpc>
              <a:defRPr sz="1200">
                <a:solidFill>
                  <a:srgbClr val="ABB2B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)</a:t>
            </a:r>
          </a:p>
        </p:txBody>
      </p:sp>
      <p:sp>
        <p:nvSpPr>
          <p:cNvPr id="152" name="Text 10"/>
          <p:cNvSpPr txBox="1"/>
          <p:nvPr/>
        </p:nvSpPr>
        <p:spPr>
          <a:xfrm>
            <a:off x="594360" y="5922186"/>
            <a:ext cx="1100023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8891A0"/>
                </a:solidFill>
              </a:defRPr>
            </a:lvl1pPr>
          </a:lstStyle>
          <a:p>
            <a:pPr/>
            <a:r>
              <a:t>o_orderkey → sequential PK  ·  o_custkey → dense FK, uniform range  ·  o_orderdate → synthetic base + span  ·  o_totalprice → bucket-cycling from the equi-height histogram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PRIVACY</a:t>
            </a:r>
          </a:p>
        </p:txBody>
      </p:sp>
      <p:sp>
        <p:nvSpPr>
          <p:cNvPr id="157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goes in, and what never does</a:t>
            </a:r>
          </a:p>
        </p:txBody>
      </p:sp>
      <p:sp>
        <p:nvSpPr>
          <p:cNvPr id="158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159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60" name="Shape 4"/>
          <p:cNvSpPr/>
          <p:nvPr/>
        </p:nvSpPr>
        <p:spPr>
          <a:xfrm>
            <a:off x="548640" y="1508760"/>
            <a:ext cx="5394960" cy="3520441"/>
          </a:xfrm>
          <a:prstGeom prst="roundRect">
            <a:avLst>
              <a:gd name="adj" fmla="val 2597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Text 5"/>
          <p:cNvSpPr txBox="1"/>
          <p:nvPr/>
        </p:nvSpPr>
        <p:spPr>
          <a:xfrm>
            <a:off x="960119" y="1809749"/>
            <a:ext cx="457200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E06C75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Never copied</a:t>
            </a:r>
          </a:p>
        </p:txBody>
      </p:sp>
      <p:sp>
        <p:nvSpPr>
          <p:cNvPr id="162" name="Text 6"/>
          <p:cNvSpPr txBox="1"/>
          <p:nvPr/>
        </p:nvSpPr>
        <p:spPr>
          <a:xfrm>
            <a:off x="914399" y="2331720"/>
            <a:ext cx="4663442" cy="172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Histogram boundaries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Min / max literals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Date ranges and endpoints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Top-N strings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Source rows themselves</a:t>
            </a:r>
          </a:p>
        </p:txBody>
      </p:sp>
      <p:sp>
        <p:nvSpPr>
          <p:cNvPr id="163" name="Shape 7"/>
          <p:cNvSpPr/>
          <p:nvPr/>
        </p:nvSpPr>
        <p:spPr>
          <a:xfrm>
            <a:off x="6245352" y="1508760"/>
            <a:ext cx="5394960" cy="3520441"/>
          </a:xfrm>
          <a:prstGeom prst="roundRect">
            <a:avLst>
              <a:gd name="adj" fmla="val 2597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4" name="Text 8"/>
          <p:cNvSpPr txBox="1"/>
          <p:nvPr/>
        </p:nvSpPr>
        <p:spPr>
          <a:xfrm>
            <a:off x="6656831" y="1809749"/>
            <a:ext cx="457200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>
                <a:solidFill>
                  <a:srgbClr val="27C93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Always preserved</a:t>
            </a:r>
          </a:p>
        </p:txBody>
      </p:sp>
      <p:sp>
        <p:nvSpPr>
          <p:cNvPr id="165" name="Text 9"/>
          <p:cNvSpPr txBox="1"/>
          <p:nvPr/>
        </p:nvSpPr>
        <p:spPr>
          <a:xfrm>
            <a:off x="6611111" y="2331720"/>
            <a:ext cx="4663442" cy="1725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Ordering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Relative frequency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Bucket weight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Cardinality and span</a:t>
            </a:r>
          </a:p>
          <a:p>
            <a:pPr marL="228600" indent="-228600">
              <a:lnSpc>
                <a:spcPct val="115000"/>
              </a:lnSpc>
              <a:spcBef>
                <a:spcPts val="1000"/>
              </a:spcBef>
              <a:buSzPct val="100000"/>
              <a:buChar char="•"/>
              <a:defRPr sz="1400">
                <a:solidFill>
                  <a:srgbClr val="C7CDD9"/>
                </a:solidFill>
              </a:defRPr>
            </a:pPr>
            <a:r>
              <a:t>Relational structure</a:t>
            </a:r>
          </a:p>
        </p:txBody>
      </p:sp>
      <p:sp>
        <p:nvSpPr>
          <p:cNvPr id="166" name="Shape 10"/>
          <p:cNvSpPr/>
          <p:nvPr/>
        </p:nvSpPr>
        <p:spPr>
          <a:xfrm>
            <a:off x="548640" y="5303520"/>
            <a:ext cx="11091672" cy="777241"/>
          </a:xfrm>
          <a:prstGeom prst="roundRect">
            <a:avLst>
              <a:gd name="adj" fmla="val 11765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11"/>
          <p:cNvSpPr txBox="1"/>
          <p:nvPr/>
        </p:nvSpPr>
        <p:spPr>
          <a:xfrm>
            <a:off x="960120" y="5444762"/>
            <a:ext cx="10332720" cy="494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20000"/>
              </a:lnSpc>
              <a:defRPr b="1" sz="1300">
                <a:solidFill>
                  <a:srgbClr val="E5C07B"/>
                </a:solidFill>
              </a:defRPr>
            </a:pPr>
            <a:r>
              <a:t>Two-party deployment: </a:t>
            </a:r>
            <a:r>
              <a:rPr b="0">
                <a:solidFill>
                  <a:srgbClr val="C7CDD9"/>
                </a:solidFill>
              </a:rPr>
              <a:t>raw statistics can stay on the data owner's infrastructure — only the annotated DDL crosses the boundary to the party generating data.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EVALUATION</a:t>
            </a:r>
          </a:p>
        </p:txBody>
      </p:sp>
      <p:sp>
        <p:nvSpPr>
          <p:cNvPr id="170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Evaluation setup</a:t>
            </a:r>
          </a:p>
        </p:txBody>
      </p:sp>
      <p:sp>
        <p:nvSpPr>
          <p:cNvPr id="171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172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73" name="Shape 4"/>
          <p:cNvSpPr/>
          <p:nvPr/>
        </p:nvSpPr>
        <p:spPr>
          <a:xfrm>
            <a:off x="548640" y="1463039"/>
            <a:ext cx="3566160" cy="594361"/>
          </a:xfrm>
          <a:prstGeom prst="roundRect">
            <a:avLst>
              <a:gd name="adj" fmla="val 15385"/>
            </a:avLst>
          </a:prstGeom>
          <a:solidFill>
            <a:srgbClr val="2B303A"/>
          </a:solidFill>
          <a:ln w="12700">
            <a:solidFill>
              <a:srgbClr val="6B93D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Text 5"/>
          <p:cNvSpPr txBox="1"/>
          <p:nvPr/>
        </p:nvSpPr>
        <p:spPr>
          <a:xfrm>
            <a:off x="594359" y="1612899"/>
            <a:ext cx="347472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6B93D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MySQL 9.7.0</a:t>
            </a:r>
          </a:p>
        </p:txBody>
      </p:sp>
      <p:sp>
        <p:nvSpPr>
          <p:cNvPr id="175" name="Shape 6"/>
          <p:cNvSpPr/>
          <p:nvPr/>
        </p:nvSpPr>
        <p:spPr>
          <a:xfrm>
            <a:off x="4315967" y="1463039"/>
            <a:ext cx="3566161" cy="594361"/>
          </a:xfrm>
          <a:prstGeom prst="roundRect">
            <a:avLst>
              <a:gd name="adj" fmla="val 15385"/>
            </a:avLst>
          </a:prstGeom>
          <a:solidFill>
            <a:srgbClr val="2B303A"/>
          </a:solidFill>
          <a:ln w="12700">
            <a:solidFill>
              <a:srgbClr val="6B93D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Text 7"/>
          <p:cNvSpPr txBox="1"/>
          <p:nvPr/>
        </p:nvSpPr>
        <p:spPr>
          <a:xfrm>
            <a:off x="4361687" y="1612899"/>
            <a:ext cx="347472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6B93D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TiDB v8.5</a:t>
            </a:r>
          </a:p>
        </p:txBody>
      </p:sp>
      <p:sp>
        <p:nvSpPr>
          <p:cNvPr id="177" name="Shape 8"/>
          <p:cNvSpPr/>
          <p:nvPr/>
        </p:nvSpPr>
        <p:spPr>
          <a:xfrm>
            <a:off x="8083295" y="1463039"/>
            <a:ext cx="3566161" cy="594361"/>
          </a:xfrm>
          <a:prstGeom prst="roundRect">
            <a:avLst>
              <a:gd name="adj" fmla="val 15385"/>
            </a:avLst>
          </a:prstGeom>
          <a:solidFill>
            <a:srgbClr val="2B303A"/>
          </a:solidFill>
          <a:ln w="12700">
            <a:solidFill>
              <a:srgbClr val="6B93D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Text 9"/>
          <p:cNvSpPr txBox="1"/>
          <p:nvPr/>
        </p:nvSpPr>
        <p:spPr>
          <a:xfrm>
            <a:off x="8129015" y="1612899"/>
            <a:ext cx="3474720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6B93D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SingleStore 9.1</a:t>
            </a:r>
          </a:p>
        </p:txBody>
      </p:sp>
      <p:sp>
        <p:nvSpPr>
          <p:cNvPr id="179" name="Shape 10"/>
          <p:cNvSpPr/>
          <p:nvPr/>
        </p:nvSpPr>
        <p:spPr>
          <a:xfrm>
            <a:off x="548640" y="2331720"/>
            <a:ext cx="5422392" cy="1554481"/>
          </a:xfrm>
          <a:prstGeom prst="roundRect">
            <a:avLst>
              <a:gd name="adj" fmla="val 5882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0" name="Text 11"/>
          <p:cNvSpPr txBox="1"/>
          <p:nvPr/>
        </p:nvSpPr>
        <p:spPr>
          <a:xfrm>
            <a:off x="914400" y="2524759"/>
            <a:ext cx="469087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7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TPC-H</a:t>
            </a:r>
          </a:p>
        </p:txBody>
      </p:sp>
      <p:sp>
        <p:nvSpPr>
          <p:cNvPr id="181" name="Text 12"/>
          <p:cNvSpPr txBox="1"/>
          <p:nvPr/>
        </p:nvSpPr>
        <p:spPr>
          <a:xfrm>
            <a:off x="914400" y="3086013"/>
            <a:ext cx="4690873" cy="503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8 tables · order-entry decision-support workload · explicit FK relationships · 10 GB</a:t>
            </a:r>
          </a:p>
        </p:txBody>
      </p:sp>
      <p:sp>
        <p:nvSpPr>
          <p:cNvPr id="182" name="Shape 13"/>
          <p:cNvSpPr/>
          <p:nvPr/>
        </p:nvSpPr>
        <p:spPr>
          <a:xfrm>
            <a:off x="6217920" y="2331720"/>
            <a:ext cx="5422392" cy="1554481"/>
          </a:xfrm>
          <a:prstGeom prst="roundRect">
            <a:avLst>
              <a:gd name="adj" fmla="val 5882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14"/>
          <p:cNvSpPr txBox="1"/>
          <p:nvPr/>
        </p:nvSpPr>
        <p:spPr>
          <a:xfrm>
            <a:off x="6583679" y="2524759"/>
            <a:ext cx="4690873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7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TPC-DS</a:t>
            </a:r>
          </a:p>
        </p:txBody>
      </p:sp>
      <p:sp>
        <p:nvSpPr>
          <p:cNvPr id="184" name="Text 15"/>
          <p:cNvSpPr txBox="1"/>
          <p:nvPr/>
        </p:nvSpPr>
        <p:spPr>
          <a:xfrm>
            <a:off x="6583679" y="3086013"/>
            <a:ext cx="4690873" cy="503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300">
                <a:solidFill>
                  <a:srgbClr val="C7CDD9"/>
                </a:solidFill>
              </a:defRPr>
            </a:lvl1pPr>
          </a:lstStyle>
          <a:p>
            <a:pPr/>
            <a:r>
              <a:t>24 tables · retail multi-channel workload · slowly-changing dims · composite FKs · 10 GB</a:t>
            </a:r>
          </a:p>
        </p:txBody>
      </p:sp>
      <p:sp>
        <p:nvSpPr>
          <p:cNvPr id="185" name="Text 16"/>
          <p:cNvSpPr txBox="1"/>
          <p:nvPr/>
        </p:nvSpPr>
        <p:spPr>
          <a:xfrm>
            <a:off x="594360" y="4191439"/>
            <a:ext cx="722376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300">
                <a:solidFill>
                  <a:srgbClr val="8891A0"/>
                </a:solidFill>
              </a:defRPr>
            </a:lvl1pPr>
          </a:lstStyle>
          <a:p>
            <a:pPr/>
            <a:r>
              <a:t>Validated across five dimensions</a:t>
            </a:r>
          </a:p>
        </p:txBody>
      </p:sp>
      <p:sp>
        <p:nvSpPr>
          <p:cNvPr id="186" name="Shape 17"/>
          <p:cNvSpPr/>
          <p:nvPr/>
        </p:nvSpPr>
        <p:spPr>
          <a:xfrm>
            <a:off x="548640" y="4572000"/>
            <a:ext cx="2112265" cy="1188720"/>
          </a:xfrm>
          <a:prstGeom prst="roundRect">
            <a:avLst>
              <a:gd name="adj" fmla="val 769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Text 18"/>
          <p:cNvSpPr txBox="1"/>
          <p:nvPr/>
        </p:nvSpPr>
        <p:spPr>
          <a:xfrm>
            <a:off x="731519" y="4779072"/>
            <a:ext cx="1746506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56B6C2"/>
                </a:solidFill>
              </a:defRPr>
            </a:lvl1pPr>
          </a:lstStyle>
          <a:p>
            <a:pPr/>
            <a:r>
              <a:t>Rows</a:t>
            </a:r>
          </a:p>
        </p:txBody>
      </p:sp>
      <p:sp>
        <p:nvSpPr>
          <p:cNvPr id="188" name="Text 19"/>
          <p:cNvSpPr txBox="1"/>
          <p:nvPr/>
        </p:nvSpPr>
        <p:spPr>
          <a:xfrm>
            <a:off x="731519" y="5266235"/>
            <a:ext cx="1746506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exact match</a:t>
            </a:r>
          </a:p>
        </p:txBody>
      </p:sp>
      <p:sp>
        <p:nvSpPr>
          <p:cNvPr id="189" name="Shape 20"/>
          <p:cNvSpPr/>
          <p:nvPr/>
        </p:nvSpPr>
        <p:spPr>
          <a:xfrm>
            <a:off x="2825495" y="4572000"/>
            <a:ext cx="2112266" cy="1188720"/>
          </a:xfrm>
          <a:prstGeom prst="roundRect">
            <a:avLst>
              <a:gd name="adj" fmla="val 769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Text 21"/>
          <p:cNvSpPr txBox="1"/>
          <p:nvPr/>
        </p:nvSpPr>
        <p:spPr>
          <a:xfrm>
            <a:off x="3008375" y="4779072"/>
            <a:ext cx="1746505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56B6C2"/>
                </a:solidFill>
              </a:defRPr>
            </a:lvl1pPr>
          </a:lstStyle>
          <a:p>
            <a:pPr/>
            <a:r>
              <a:t>Histograms</a:t>
            </a:r>
          </a:p>
        </p:txBody>
      </p:sp>
      <p:sp>
        <p:nvSpPr>
          <p:cNvPr id="191" name="Text 22"/>
          <p:cNvSpPr txBox="1"/>
          <p:nvPr/>
        </p:nvSpPr>
        <p:spPr>
          <a:xfrm>
            <a:off x="3008375" y="5266235"/>
            <a:ext cx="1746505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TVD &lt; 5%</a:t>
            </a:r>
          </a:p>
        </p:txBody>
      </p:sp>
      <p:sp>
        <p:nvSpPr>
          <p:cNvPr id="192" name="Shape 23"/>
          <p:cNvSpPr/>
          <p:nvPr/>
        </p:nvSpPr>
        <p:spPr>
          <a:xfrm>
            <a:off x="5102352" y="4572000"/>
            <a:ext cx="2112265" cy="1188720"/>
          </a:xfrm>
          <a:prstGeom prst="roundRect">
            <a:avLst>
              <a:gd name="adj" fmla="val 769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3" name="Text 24"/>
          <p:cNvSpPr txBox="1"/>
          <p:nvPr/>
        </p:nvSpPr>
        <p:spPr>
          <a:xfrm>
            <a:off x="5285231" y="4779072"/>
            <a:ext cx="1746505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56B6C2"/>
                </a:solidFill>
              </a:defRPr>
            </a:lvl1pPr>
          </a:lstStyle>
          <a:p>
            <a:pPr/>
            <a:r>
              <a:t>Distinct</a:t>
            </a:r>
          </a:p>
        </p:txBody>
      </p:sp>
      <p:sp>
        <p:nvSpPr>
          <p:cNvPr id="194" name="Text 25"/>
          <p:cNvSpPr txBox="1"/>
          <p:nvPr/>
        </p:nvSpPr>
        <p:spPr>
          <a:xfrm>
            <a:off x="5285231" y="5266235"/>
            <a:ext cx="1746505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diff &lt; 5%</a:t>
            </a:r>
          </a:p>
        </p:txBody>
      </p:sp>
      <p:sp>
        <p:nvSpPr>
          <p:cNvPr id="195" name="Shape 26"/>
          <p:cNvSpPr/>
          <p:nvPr/>
        </p:nvSpPr>
        <p:spPr>
          <a:xfrm>
            <a:off x="7379207" y="4572000"/>
            <a:ext cx="2112265" cy="1188720"/>
          </a:xfrm>
          <a:prstGeom prst="roundRect">
            <a:avLst>
              <a:gd name="adj" fmla="val 769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6" name="Text 27"/>
          <p:cNvSpPr txBox="1"/>
          <p:nvPr/>
        </p:nvSpPr>
        <p:spPr>
          <a:xfrm>
            <a:off x="7562088" y="4779072"/>
            <a:ext cx="1746505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56B6C2"/>
                </a:solidFill>
              </a:defRPr>
            </a:lvl1pPr>
          </a:lstStyle>
          <a:p>
            <a:pPr/>
            <a:r>
              <a:t>FK Integrity</a:t>
            </a:r>
          </a:p>
        </p:txBody>
      </p:sp>
      <p:sp>
        <p:nvSpPr>
          <p:cNvPr id="197" name="Text 28"/>
          <p:cNvSpPr txBox="1"/>
          <p:nvPr/>
        </p:nvSpPr>
        <p:spPr>
          <a:xfrm>
            <a:off x="7562088" y="5266235"/>
            <a:ext cx="1746505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zero orphans</a:t>
            </a:r>
          </a:p>
        </p:txBody>
      </p:sp>
      <p:sp>
        <p:nvSpPr>
          <p:cNvPr id="198" name="Shape 29"/>
          <p:cNvSpPr/>
          <p:nvPr/>
        </p:nvSpPr>
        <p:spPr>
          <a:xfrm>
            <a:off x="9656064" y="4572000"/>
            <a:ext cx="2112265" cy="1188720"/>
          </a:xfrm>
          <a:prstGeom prst="roundRect">
            <a:avLst>
              <a:gd name="adj" fmla="val 7692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9" name="Text 30"/>
          <p:cNvSpPr txBox="1"/>
          <p:nvPr/>
        </p:nvSpPr>
        <p:spPr>
          <a:xfrm>
            <a:off x="9838943" y="4779072"/>
            <a:ext cx="1746505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56B6C2"/>
                </a:solidFill>
              </a:defRPr>
            </a:lvl1pPr>
          </a:lstStyle>
          <a:p>
            <a:pPr/>
            <a:r>
              <a:t>Privacy</a:t>
            </a:r>
          </a:p>
        </p:txBody>
      </p:sp>
      <p:sp>
        <p:nvSpPr>
          <p:cNvPr id="200" name="Text 31"/>
          <p:cNvSpPr txBox="1"/>
          <p:nvPr/>
        </p:nvSpPr>
        <p:spPr>
          <a:xfrm>
            <a:off x="9838943" y="5266235"/>
            <a:ext cx="1746505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MD5 + literal check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RESULTS</a:t>
            </a:r>
          </a:p>
        </p:txBody>
      </p:sp>
      <p:sp>
        <p:nvSpPr>
          <p:cNvPr id="203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Near-perfect fidelity, across all three engines</a:t>
            </a:r>
          </a:p>
        </p:txBody>
      </p:sp>
      <p:sp>
        <p:nvSpPr>
          <p:cNvPr id="204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205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206" name="Text 4"/>
          <p:cNvSpPr txBox="1"/>
          <p:nvPr/>
        </p:nvSpPr>
        <p:spPr>
          <a:xfrm>
            <a:off x="594360" y="1448239"/>
            <a:ext cx="533095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E5C07B"/>
                </a:solidFill>
              </a:defRPr>
            </a:lvl1pPr>
          </a:lstStyle>
          <a:p>
            <a:pPr/>
            <a:r>
              <a:t>TPC-H · SF10</a:t>
            </a:r>
          </a:p>
        </p:txBody>
      </p:sp>
      <p:graphicFrame>
        <p:nvGraphicFramePr>
          <p:cNvPr id="207" name="Table 0"/>
          <p:cNvGraphicFramePr/>
          <p:nvPr/>
        </p:nvGraphicFramePr>
        <p:xfrm>
          <a:off x="548640" y="1783079"/>
          <a:ext cx="5422392" cy="17373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18270"/>
                <a:gridCol w="780824"/>
                <a:gridCol w="780824"/>
                <a:gridCol w="780824"/>
                <a:gridCol w="780824"/>
                <a:gridCol w="780824"/>
              </a:tblGrid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Engine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Rows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Hist.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Distinct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FK Int.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Privacy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MySQL 9.7.0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55/55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61/61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12/12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TiDB v8.5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10/10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61/61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12/12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SingleStore 9.1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23/23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61/61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16/16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8/8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</a:tbl>
          </a:graphicData>
        </a:graphic>
      </p:graphicFrame>
      <p:sp>
        <p:nvSpPr>
          <p:cNvPr id="208" name="Text 5"/>
          <p:cNvSpPr txBox="1"/>
          <p:nvPr/>
        </p:nvSpPr>
        <p:spPr>
          <a:xfrm>
            <a:off x="6263640" y="1448239"/>
            <a:ext cx="5330953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E5C07B"/>
                </a:solidFill>
              </a:defRPr>
            </a:lvl1pPr>
          </a:lstStyle>
          <a:p>
            <a:pPr/>
            <a:r>
              <a:t>TPC-DS · 10 GB</a:t>
            </a:r>
          </a:p>
        </p:txBody>
      </p:sp>
      <p:graphicFrame>
        <p:nvGraphicFramePr>
          <p:cNvPr id="209" name="Table 1"/>
          <p:cNvGraphicFramePr/>
          <p:nvPr/>
        </p:nvGraphicFramePr>
        <p:xfrm>
          <a:off x="6217920" y="1783079"/>
          <a:ext cx="5422392" cy="17373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18270"/>
                <a:gridCol w="780824"/>
                <a:gridCol w="780824"/>
                <a:gridCol w="780824"/>
                <a:gridCol w="780824"/>
                <a:gridCol w="780824"/>
              </a:tblGrid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Engine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Rows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Hist.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Distinct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FK Int.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2F4F8"/>
                          </a:solidFill>
                        </a:rPr>
                        <a:t>Privacy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B303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MySQL 9.7.0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408/408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415/425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204/204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TiDB v8.5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38/38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425/425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204/204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C7CDD9"/>
                          </a:solidFill>
                        </a:rPr>
                        <a:t>SingleStore 9.1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196/196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425/425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204/204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27C93F"/>
                          </a:solidFill>
                        </a:rPr>
                        <a:t>24/24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3A3F4B"/>
                      </a:solidFill>
                    </a:lnL>
                    <a:lnR w="6350">
                      <a:solidFill>
                        <a:srgbClr val="3A3F4B"/>
                      </a:solidFill>
                    </a:lnR>
                    <a:lnT w="6350">
                      <a:solidFill>
                        <a:srgbClr val="3A3F4B"/>
                      </a:solidFill>
                    </a:lnT>
                    <a:lnB w="6350">
                      <a:solidFill>
                        <a:srgbClr val="3A3F4B"/>
                      </a:solidFill>
                    </a:lnB>
                    <a:solidFill>
                      <a:srgbClr val="242830"/>
                    </a:solidFill>
                  </a:tcPr>
                </a:tc>
              </a:tr>
            </a:tbl>
          </a:graphicData>
        </a:graphic>
      </p:graphicFrame>
      <p:sp>
        <p:nvSpPr>
          <p:cNvPr id="210" name="Shape 6"/>
          <p:cNvSpPr/>
          <p:nvPr/>
        </p:nvSpPr>
        <p:spPr>
          <a:xfrm>
            <a:off x="548640" y="4114800"/>
            <a:ext cx="5422392" cy="1737361"/>
          </a:xfrm>
          <a:prstGeom prst="roundRect">
            <a:avLst>
              <a:gd name="adj" fmla="val 5263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Text 7"/>
          <p:cNvSpPr txBox="1"/>
          <p:nvPr/>
        </p:nvSpPr>
        <p:spPr>
          <a:xfrm>
            <a:off x="594360" y="4356099"/>
            <a:ext cx="5330952" cy="751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4400">
                <a:solidFill>
                  <a:srgbClr val="56B6C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4.77%</a:t>
            </a:r>
          </a:p>
        </p:txBody>
      </p:sp>
      <p:sp>
        <p:nvSpPr>
          <p:cNvPr id="212" name="Text 8"/>
          <p:cNvSpPr txBox="1"/>
          <p:nvPr/>
        </p:nvSpPr>
        <p:spPr>
          <a:xfrm>
            <a:off x="868679" y="5205591"/>
            <a:ext cx="4782314" cy="47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20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maximum histogram TVD observed (LINEITEM L_QUANTITY, SF5) — well below the 5% threshold</a:t>
            </a:r>
          </a:p>
        </p:txBody>
      </p:sp>
      <p:sp>
        <p:nvSpPr>
          <p:cNvPr id="213" name="Shape 9"/>
          <p:cNvSpPr/>
          <p:nvPr/>
        </p:nvSpPr>
        <p:spPr>
          <a:xfrm>
            <a:off x="6217920" y="4114800"/>
            <a:ext cx="5422392" cy="1737361"/>
          </a:xfrm>
          <a:prstGeom prst="roundRect">
            <a:avLst>
              <a:gd name="adj" fmla="val 5263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4" name="Text 10"/>
          <p:cNvSpPr txBox="1"/>
          <p:nvPr/>
        </p:nvSpPr>
        <p:spPr>
          <a:xfrm>
            <a:off x="6263640" y="4356099"/>
            <a:ext cx="5330953" cy="751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4400">
                <a:solidFill>
                  <a:srgbClr val="27C93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100%</a:t>
            </a:r>
          </a:p>
        </p:txBody>
      </p:sp>
      <p:sp>
        <p:nvSpPr>
          <p:cNvPr id="215" name="Text 11"/>
          <p:cNvSpPr txBox="1"/>
          <p:nvPr/>
        </p:nvSpPr>
        <p:spPr>
          <a:xfrm>
            <a:off x="6537960" y="5205591"/>
            <a:ext cx="4782313" cy="470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20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FK integrity and privacy checks pass — every engine, every scale factor, both benchmarks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SUMMARY</a:t>
            </a:r>
          </a:p>
        </p:txBody>
      </p:sp>
      <p:sp>
        <p:nvSpPr>
          <p:cNvPr id="218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Contributions</a:t>
            </a:r>
          </a:p>
        </p:txBody>
      </p:sp>
      <p:sp>
        <p:nvSpPr>
          <p:cNvPr id="219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220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221" name="Shape 4"/>
          <p:cNvSpPr/>
          <p:nvPr/>
        </p:nvSpPr>
        <p:spPr>
          <a:xfrm>
            <a:off x="548640" y="1463039"/>
            <a:ext cx="11091672" cy="896113"/>
          </a:xfrm>
          <a:prstGeom prst="roundRect">
            <a:avLst>
              <a:gd name="adj" fmla="val 1020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Shape 5"/>
          <p:cNvSpPr/>
          <p:nvPr/>
        </p:nvSpPr>
        <p:spPr>
          <a:xfrm>
            <a:off x="822960" y="1728216"/>
            <a:ext cx="365761" cy="365761"/>
          </a:xfrm>
          <a:prstGeom prst="roundRect">
            <a:avLst>
              <a:gd name="adj" fmla="val 50000"/>
            </a:avLst>
          </a:prstGeom>
          <a:solidFill>
            <a:srgbClr val="56B6C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Text 6"/>
          <p:cNvSpPr txBox="1"/>
          <p:nvPr/>
        </p:nvSpPr>
        <p:spPr>
          <a:xfrm>
            <a:off x="868680" y="1770696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1B1E23"/>
                </a:solidFill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24" name="Text 7"/>
          <p:cNvSpPr txBox="1"/>
          <p:nvPr/>
        </p:nvSpPr>
        <p:spPr>
          <a:xfrm>
            <a:off x="1417320" y="1832663"/>
            <a:ext cx="996696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2F4F8"/>
                </a:solidFill>
              </a:defRPr>
            </a:pPr>
            <a:r>
              <a:t>An automated pipeline — </a:t>
            </a:r>
            <a:r>
              <a:rPr b="0">
                <a:solidFill>
                  <a:srgbClr val="C7CDD9"/>
                </a:solidFill>
              </a:rPr>
              <a:t>converting relational catalog metadata and optimizer statistics into executable DataGenX templates.</a:t>
            </a:r>
          </a:p>
        </p:txBody>
      </p:sp>
      <p:sp>
        <p:nvSpPr>
          <p:cNvPr id="225" name="Shape 8"/>
          <p:cNvSpPr/>
          <p:nvPr/>
        </p:nvSpPr>
        <p:spPr>
          <a:xfrm>
            <a:off x="548640" y="2468879"/>
            <a:ext cx="11091672" cy="896113"/>
          </a:xfrm>
          <a:prstGeom prst="roundRect">
            <a:avLst>
              <a:gd name="adj" fmla="val 1020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Shape 9"/>
          <p:cNvSpPr/>
          <p:nvPr/>
        </p:nvSpPr>
        <p:spPr>
          <a:xfrm>
            <a:off x="822960" y="2734055"/>
            <a:ext cx="365761" cy="365761"/>
          </a:xfrm>
          <a:prstGeom prst="roundRect">
            <a:avLst>
              <a:gd name="adj" fmla="val 50000"/>
            </a:avLst>
          </a:prstGeom>
          <a:solidFill>
            <a:srgbClr val="C678D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Text 10"/>
          <p:cNvSpPr txBox="1"/>
          <p:nvPr/>
        </p:nvSpPr>
        <p:spPr>
          <a:xfrm>
            <a:off x="868680" y="2776536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1B1E23"/>
                </a:solidFill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28" name="Text 11"/>
          <p:cNvSpPr txBox="1"/>
          <p:nvPr/>
        </p:nvSpPr>
        <p:spPr>
          <a:xfrm>
            <a:off x="1417320" y="2731488"/>
            <a:ext cx="9966960" cy="3708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2F4F8"/>
                </a:solidFill>
              </a:defRPr>
            </a:pPr>
            <a:r>
              <a:t>A privacy-preserving remapping mechanism — </a:t>
            </a:r>
            <a:r>
              <a:rPr b="0">
                <a:solidFill>
                  <a:srgbClr val="C7CDD9"/>
                </a:solidFill>
              </a:rPr>
              <a:t>preserving statistical roles — ordering, frequency, bucket weight, cardinality, structure — without copying source values.</a:t>
            </a:r>
          </a:p>
        </p:txBody>
      </p:sp>
      <p:sp>
        <p:nvSpPr>
          <p:cNvPr id="229" name="Shape 12"/>
          <p:cNvSpPr/>
          <p:nvPr/>
        </p:nvSpPr>
        <p:spPr>
          <a:xfrm>
            <a:off x="548640" y="3474720"/>
            <a:ext cx="11091672" cy="896113"/>
          </a:xfrm>
          <a:prstGeom prst="roundRect">
            <a:avLst>
              <a:gd name="adj" fmla="val 1020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0" name="Shape 13"/>
          <p:cNvSpPr/>
          <p:nvPr/>
        </p:nvSpPr>
        <p:spPr>
          <a:xfrm>
            <a:off x="822960" y="3739896"/>
            <a:ext cx="365761" cy="365761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1" name="Text 14"/>
          <p:cNvSpPr txBox="1"/>
          <p:nvPr/>
        </p:nvSpPr>
        <p:spPr>
          <a:xfrm>
            <a:off x="868680" y="3782376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1B1E23"/>
                </a:solidFill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32" name="Text 15"/>
          <p:cNvSpPr txBox="1"/>
          <p:nvPr/>
        </p:nvSpPr>
        <p:spPr>
          <a:xfrm>
            <a:off x="1417320" y="3844343"/>
            <a:ext cx="996696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2F4F8"/>
                </a:solidFill>
              </a:defRPr>
            </a:pPr>
            <a:r>
              <a:t>Database-specific adapters — </a:t>
            </a:r>
            <a:r>
              <a:rPr b="0">
                <a:solidFill>
                  <a:srgbClr val="C7CDD9"/>
                </a:solidFill>
              </a:rPr>
              <a:t>for MySQL, TiDB, and SingleStore, handling differences in catalog schema, histogram format, and statistics collection.</a:t>
            </a:r>
          </a:p>
        </p:txBody>
      </p:sp>
      <p:sp>
        <p:nvSpPr>
          <p:cNvPr id="233" name="Shape 16"/>
          <p:cNvSpPr/>
          <p:nvPr/>
        </p:nvSpPr>
        <p:spPr>
          <a:xfrm>
            <a:off x="548640" y="4480559"/>
            <a:ext cx="11091672" cy="896113"/>
          </a:xfrm>
          <a:prstGeom prst="roundRect">
            <a:avLst>
              <a:gd name="adj" fmla="val 1020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Shape 17"/>
          <p:cNvSpPr/>
          <p:nvPr/>
        </p:nvSpPr>
        <p:spPr>
          <a:xfrm>
            <a:off x="822960" y="4745735"/>
            <a:ext cx="365761" cy="365761"/>
          </a:xfrm>
          <a:prstGeom prst="roundRect">
            <a:avLst>
              <a:gd name="adj" fmla="val 50000"/>
            </a:avLst>
          </a:prstGeom>
          <a:solidFill>
            <a:srgbClr val="98C379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5" name="Text 18"/>
          <p:cNvSpPr txBox="1"/>
          <p:nvPr/>
        </p:nvSpPr>
        <p:spPr>
          <a:xfrm>
            <a:off x="868680" y="4788216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1B1E23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36" name="Text 19"/>
          <p:cNvSpPr txBox="1"/>
          <p:nvPr/>
        </p:nvSpPr>
        <p:spPr>
          <a:xfrm>
            <a:off x="1417320" y="4850183"/>
            <a:ext cx="996696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2F4F8"/>
                </a:solidFill>
              </a:defRPr>
            </a:pPr>
            <a:r>
              <a:t>A validation framework — </a:t>
            </a:r>
            <a:r>
              <a:rPr b="0">
                <a:solidFill>
                  <a:srgbClr val="C7CDD9"/>
                </a:solidFill>
              </a:rPr>
              <a:t>verifying row counts, column-level distributions, distinct-value counts, FK referential integrity, and absence of copied source rows.</a:t>
            </a:r>
          </a:p>
        </p:txBody>
      </p:sp>
      <p:sp>
        <p:nvSpPr>
          <p:cNvPr id="237" name="Shape 20"/>
          <p:cNvSpPr/>
          <p:nvPr/>
        </p:nvSpPr>
        <p:spPr>
          <a:xfrm>
            <a:off x="548640" y="54864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Shape 21"/>
          <p:cNvSpPr/>
          <p:nvPr/>
        </p:nvSpPr>
        <p:spPr>
          <a:xfrm>
            <a:off x="822960" y="5751576"/>
            <a:ext cx="365761" cy="365761"/>
          </a:xfrm>
          <a:prstGeom prst="roundRect">
            <a:avLst>
              <a:gd name="adj" fmla="val 50000"/>
            </a:avLst>
          </a:prstGeom>
          <a:solidFill>
            <a:srgbClr val="6B93D6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9" name="Text 22"/>
          <p:cNvSpPr txBox="1"/>
          <p:nvPr/>
        </p:nvSpPr>
        <p:spPr>
          <a:xfrm>
            <a:off x="868680" y="5794056"/>
            <a:ext cx="27432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400">
                <a:solidFill>
                  <a:srgbClr val="1B1E23"/>
                </a:solidFill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40" name="Text 23"/>
          <p:cNvSpPr txBox="1"/>
          <p:nvPr/>
        </p:nvSpPr>
        <p:spPr>
          <a:xfrm>
            <a:off x="1417320" y="5856023"/>
            <a:ext cx="9966960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15000"/>
              </a:lnSpc>
              <a:defRPr b="1" sz="1200">
                <a:solidFill>
                  <a:srgbClr val="F2F4F8"/>
                </a:solidFill>
              </a:defRPr>
            </a:pPr>
            <a:r>
              <a:t>Empirical validation — </a:t>
            </a:r>
            <a:r>
              <a:rPr b="0">
                <a:solidFill>
                  <a:srgbClr val="C7CDD9"/>
                </a:solidFill>
              </a:rPr>
              <a:t>on TPC-H and TPC-DS at 10 GB across three engines — perfect histogram fidelity, row counts, FK integrity, and privacy.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B1E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 txBox="1"/>
          <p:nvPr/>
        </p:nvSpPr>
        <p:spPr>
          <a:xfrm>
            <a:off x="594360" y="333047"/>
            <a:ext cx="90525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6B93D6"/>
                </a:solidFill>
              </a:defRPr>
            </a:lvl1pPr>
          </a:lstStyle>
          <a:p>
            <a:pPr/>
            <a:r>
              <a:t>WHAT'S NEXT</a:t>
            </a:r>
          </a:p>
        </p:txBody>
      </p:sp>
      <p:sp>
        <p:nvSpPr>
          <p:cNvPr id="243" name="Text 1"/>
          <p:cNvSpPr txBox="1"/>
          <p:nvPr/>
        </p:nvSpPr>
        <p:spPr>
          <a:xfrm>
            <a:off x="594360" y="585977"/>
            <a:ext cx="1088136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8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Future work</a:t>
            </a:r>
          </a:p>
        </p:txBody>
      </p:sp>
      <p:sp>
        <p:nvSpPr>
          <p:cNvPr id="244" name="Text 2"/>
          <p:cNvSpPr txBox="1"/>
          <p:nvPr/>
        </p:nvSpPr>
        <p:spPr>
          <a:xfrm>
            <a:off x="502919" y="6572163"/>
            <a:ext cx="4480562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DataGenX V2  ·  TPC-TC 2026</a:t>
            </a:r>
          </a:p>
        </p:txBody>
      </p:sp>
      <p:sp>
        <p:nvSpPr>
          <p:cNvPr id="245" name="Text 3"/>
          <p:cNvSpPr txBox="1"/>
          <p:nvPr/>
        </p:nvSpPr>
        <p:spPr>
          <a:xfrm>
            <a:off x="11567160" y="657216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8891A0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46" name="Shape 4"/>
          <p:cNvSpPr/>
          <p:nvPr/>
        </p:nvSpPr>
        <p:spPr>
          <a:xfrm>
            <a:off x="548640" y="1463039"/>
            <a:ext cx="5422392" cy="1691641"/>
          </a:xfrm>
          <a:prstGeom prst="roundRect">
            <a:avLst>
              <a:gd name="adj" fmla="val 5405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7" name="Text 5"/>
          <p:cNvSpPr txBox="1"/>
          <p:nvPr/>
        </p:nvSpPr>
        <p:spPr>
          <a:xfrm>
            <a:off x="914400" y="1708149"/>
            <a:ext cx="4690873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56B6C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Tool hardening</a:t>
            </a:r>
          </a:p>
        </p:txBody>
      </p:sp>
      <p:sp>
        <p:nvSpPr>
          <p:cNvPr id="248" name="Text 6"/>
          <p:cNvSpPr txBox="1"/>
          <p:nvPr/>
        </p:nvSpPr>
        <p:spPr>
          <a:xfrm>
            <a:off x="914400" y="2298449"/>
            <a:ext cx="4690873" cy="4780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Better error handling for edge-case schemas, a standardized adapter interface, a documented contribution path.</a:t>
            </a:r>
          </a:p>
        </p:txBody>
      </p:sp>
      <p:sp>
        <p:nvSpPr>
          <p:cNvPr id="249" name="Shape 7"/>
          <p:cNvSpPr/>
          <p:nvPr/>
        </p:nvSpPr>
        <p:spPr>
          <a:xfrm>
            <a:off x="6217920" y="1463039"/>
            <a:ext cx="5422392" cy="1691641"/>
          </a:xfrm>
          <a:prstGeom prst="roundRect">
            <a:avLst>
              <a:gd name="adj" fmla="val 5405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8"/>
          <p:cNvSpPr txBox="1"/>
          <p:nvPr/>
        </p:nvSpPr>
        <p:spPr>
          <a:xfrm>
            <a:off x="6583679" y="1708149"/>
            <a:ext cx="4690873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C678DD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Scale-factor adaptation</a:t>
            </a:r>
          </a:p>
        </p:txBody>
      </p:sp>
      <p:sp>
        <p:nvSpPr>
          <p:cNvPr id="251" name="Text 9"/>
          <p:cNvSpPr txBox="1"/>
          <p:nvPr/>
        </p:nvSpPr>
        <p:spPr>
          <a:xfrm>
            <a:off x="6583679" y="2298449"/>
            <a:ext cx="4690873" cy="4780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Derive scale-up / scale-down purely from catalog metadata — row counts, cardinality ratios, FK fan-out.</a:t>
            </a:r>
          </a:p>
        </p:txBody>
      </p:sp>
      <p:sp>
        <p:nvSpPr>
          <p:cNvPr id="252" name="Shape 10"/>
          <p:cNvSpPr/>
          <p:nvPr/>
        </p:nvSpPr>
        <p:spPr>
          <a:xfrm>
            <a:off x="548640" y="3401567"/>
            <a:ext cx="5422392" cy="1691641"/>
          </a:xfrm>
          <a:prstGeom prst="roundRect">
            <a:avLst>
              <a:gd name="adj" fmla="val 5405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3" name="Text 11"/>
          <p:cNvSpPr txBox="1"/>
          <p:nvPr/>
        </p:nvSpPr>
        <p:spPr>
          <a:xfrm>
            <a:off x="914400" y="3646677"/>
            <a:ext cx="4690873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E5C07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AI-assisted statistics</a:t>
            </a:r>
          </a:p>
        </p:txBody>
      </p:sp>
      <p:sp>
        <p:nvSpPr>
          <p:cNvPr id="254" name="Text 12"/>
          <p:cNvSpPr txBox="1"/>
          <p:nvPr/>
        </p:nvSpPr>
        <p:spPr>
          <a:xfrm>
            <a:off x="914400" y="4236977"/>
            <a:ext cx="4690873" cy="4780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Generate plausible histograms and FK fan-out from natural-language descriptions when no live database exists.</a:t>
            </a:r>
          </a:p>
        </p:txBody>
      </p:sp>
      <p:sp>
        <p:nvSpPr>
          <p:cNvPr id="255" name="Shape 13"/>
          <p:cNvSpPr/>
          <p:nvPr/>
        </p:nvSpPr>
        <p:spPr>
          <a:xfrm>
            <a:off x="6217920" y="3401567"/>
            <a:ext cx="5422392" cy="1691641"/>
          </a:xfrm>
          <a:prstGeom prst="roundRect">
            <a:avLst>
              <a:gd name="adj" fmla="val 5405"/>
            </a:avLst>
          </a:prstGeom>
          <a:solidFill>
            <a:srgbClr val="2B303A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Text 14"/>
          <p:cNvSpPr txBox="1"/>
          <p:nvPr/>
        </p:nvSpPr>
        <p:spPr>
          <a:xfrm>
            <a:off x="6583679" y="3646677"/>
            <a:ext cx="4690873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98C379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Deeper fidelity</a:t>
            </a:r>
          </a:p>
        </p:txBody>
      </p:sp>
      <p:sp>
        <p:nvSpPr>
          <p:cNvPr id="257" name="Text 15"/>
          <p:cNvSpPr txBox="1"/>
          <p:nvPr/>
        </p:nvSpPr>
        <p:spPr>
          <a:xfrm>
            <a:off x="6583679" y="4236977"/>
            <a:ext cx="4690873" cy="4780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200">
                <a:solidFill>
                  <a:srgbClr val="C7CDD9"/>
                </a:solidFill>
              </a:defRPr>
            </a:lvl1pPr>
          </a:lstStyle>
          <a:p>
            <a:pPr/>
            <a:r>
              <a:t>Column-pair correlations and query-plan equivalence — the next criterion beyond statistical fidelity.</a:t>
            </a:r>
          </a:p>
        </p:txBody>
      </p:sp>
      <p:sp>
        <p:nvSpPr>
          <p:cNvPr id="258" name="Shape 16"/>
          <p:cNvSpPr/>
          <p:nvPr/>
        </p:nvSpPr>
        <p:spPr>
          <a:xfrm>
            <a:off x="548640" y="5349240"/>
            <a:ext cx="11091672" cy="960121"/>
          </a:xfrm>
          <a:prstGeom prst="roundRect">
            <a:avLst>
              <a:gd name="adj" fmla="val 9524"/>
            </a:avLst>
          </a:prstGeom>
          <a:solidFill>
            <a:srgbClr val="242830"/>
          </a:solidFill>
          <a:ln>
            <a:solidFill>
              <a:srgbClr val="3A3F4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9" name="Text 17"/>
          <p:cNvSpPr txBox="1"/>
          <p:nvPr/>
        </p:nvSpPr>
        <p:spPr>
          <a:xfrm>
            <a:off x="914400" y="5618480"/>
            <a:ext cx="539496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2200">
                <a:solidFill>
                  <a:srgbClr val="F2F4F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Thank you — questions?</a:t>
            </a:r>
          </a:p>
        </p:txBody>
      </p:sp>
      <p:sp>
        <p:nvSpPr>
          <p:cNvPr id="260" name="Text 18"/>
          <p:cNvSpPr txBox="1"/>
          <p:nvPr/>
        </p:nvSpPr>
        <p:spPr>
          <a:xfrm>
            <a:off x="6446520" y="5643880"/>
            <a:ext cx="5120640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1000">
                <a:solidFill>
                  <a:srgbClr val="8891A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sreeharsha.r@gmail.com   ·   aghazal@singlestore.com   ·   hmaduri@amazon.com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