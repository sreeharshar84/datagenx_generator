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" name="Shape 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Open with energy, not a read of the subtitle. One or two sentences max before moving on:</a:t>
            </a:r>
          </a:p>
          <a:p>
            <a:pPr/>
            <a:r>
              <a:t>- 'DataGenX V2 turns the statistics your database already collects into synthetic data - no source rows, fully automated.'</a:t>
            </a:r>
          </a:p>
          <a:p>
            <a:pPr/>
            <a:r>
              <a:t>- Name-drop the three engines (MySQL, TiDB, SingleStore) and that this is joint work across SingleStore, Amazon, and PingCAP - signals it's a real production concern, not an academic toy.</a:t>
            </a:r>
          </a:p>
          <a:p>
            <a:pPr/>
            <a:r>
              <a:t>Don't over-explain the tagline here; every clause gets unpacked over the next few slides. Move fast.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" name="Shape 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establish the 'what' before any 'how'. Land the headline statement first, then the three reasons - don't lead with use cases (that's the next slide).</a:t>
            </a:r>
          </a:p>
          <a:p>
            <a:pPr/>
          </a:p>
          <a:p>
            <a:pPr/>
            <a:r>
              <a:t>Talking points:</a:t>
            </a:r>
          </a:p>
          <a:p>
            <a:pPr/>
            <a:r>
              <a:t>- Lead with the callout card verbatim: engineering needs production-like data, but real data is frequently unavailable, so it has to be simulated.</a:t>
            </a:r>
          </a:p>
          <a:p>
            <a:pPr/>
            <a:r>
              <a:t>- Walk the three reasons briefly - regulated, belongs to a customer, or doesn't exist yet for a new system. These aren't hypothetical; they're the three patterns you actually run into in the field.</a:t>
            </a:r>
          </a:p>
          <a:p>
            <a:pPr/>
            <a:r>
              <a:t>- Don't mention specific use cases yet (optimizer tuning, incident repro, etc.) - that's deliberately saved for the next slide so 'what' and 'how' stay separate.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" name="Shape 7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this is the 'how' - concrete, everyday scenarios where the previous slide's problem actually bites. Keep it fast; these are illustrations, not new information.</a:t>
            </a:r>
          </a:p>
          <a:p>
            <a:pPr/>
          </a:p>
          <a:p>
            <a:pPr/>
            <a:r>
              <a:t>Talking points per card:</a:t>
            </a:r>
          </a:p>
          <a:p>
            <a:pPr/>
            <a:r>
              <a:t>- Query optimizer tuning: you can't validate a plan-selection fix against toy data - you need realistic cardinalities and skew, which is exactly what production data has and test data usually doesn't.</a:t>
            </a:r>
          </a:p>
          <a:p>
            <a:pPr/>
            <a:r>
              <a:t>- Production incident repro: you want to reproduce the SAME query plan that caused the incident, without ever touching the customer's actual rows - a legal and practical requirement, not just a nice-to-have.</a:t>
            </a:r>
          </a:p>
          <a:p>
            <a:pPr/>
            <a:r>
              <a:t>- New storage engine stress test: before a new engine or version sees production, it needs to be exercised at realistic volume and distribution.</a:t>
            </a:r>
          </a:p>
          <a:p>
            <a:pPr/>
            <a:r>
              <a:t>Close the slide by pivoting: 'so the question becomes - how do you get data with these properties, without the actual data?' That's the transition into the next slide.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" name="Shape 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define 'faithful representation' precisely before claiming DataGenX achieves it - this is the rubric the rest of the talk is measured against.</a:t>
            </a:r>
          </a:p>
          <a:p>
            <a:pPr/>
          </a:p>
          <a:p>
            <a:pPr/>
            <a:r>
              <a:t>Talking points:</a:t>
            </a:r>
          </a:p>
          <a:p>
            <a:pPr/>
            <a:r>
              <a:t>- Schema structure: table definitions, types, lengths - table stakes, easy to get right.</a:t>
            </a:r>
          </a:p>
          <a:p>
            <a:pPr/>
            <a:r>
              <a:t>- Integrity constraints: PK/FK relationships and cardinalities. Emphasize the consequence, not just the definition - get FKs wrong and joins return garbage; get cardinalities wrong and the optimizer picks the wrong plan.</a:t>
            </a:r>
          </a:p>
          <a:p>
            <a:pPr/>
            <a:r>
              <a:t>- Data distribution: row counts, distinct values, histograms, skew, top-N. This is the one most tools ignore or fake.</a:t>
            </a:r>
          </a:p>
          <a:p>
            <a:pPr/>
            <a:r>
              <a:t>- Bridge to next slide: databases already collect distribution stats for the optimizer - that's the insight the rest of the talk is built 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5" name="Shape 1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this is the thesis slide - the one line the whole talk hangs on. Say it slowly, then let the table do the rest of the work.</a:t>
            </a:r>
          </a:p>
          <a:p>
            <a:pPr/>
          </a:p>
          <a:p>
            <a:pPr/>
            <a:r>
              <a:t>Talking points:</a:t>
            </a:r>
          </a:p>
          <a:p>
            <a:pPr/>
            <a:r>
              <a:t>- The big statement: optimizer stats already describe the data's distribution well enough to simulate it - that's a reuse nobody else has made.</a:t>
            </a:r>
          </a:p>
          <a:p>
            <a:pPr/>
            <a:r>
              <a:t>- Table walkthrough: DataGenX V2 is the only row with all five checks. Point out where each competitor category falls short - fixed benchmarks aren't schema-general; PDGF/Myriad need a hand-authored spec; SDV/PrivLava/RelDiff need real source rows to train on.</a:t>
            </a:r>
          </a:p>
          <a:p>
            <a:pPr/>
            <a:r>
              <a:t>- BE READY TO DEFEND: SDV/PrivLava/RelDiff are marked x on 'Uses Optimizer Stats' - not because they lack fidelity, but because they derive their statistics by training on raw source rows rather than reading stats the engine already maintains. If challenged: 'training on a sample is a different operating requirement than reading pre-computed catalog stats - it means source access, which is exactly what we're designed to avoid.'</a:t>
            </a:r>
          </a:p>
          <a:p>
            <a:pPr/>
            <a:r>
              <a:t>- Land the contribution explicitly: DataGenX is the only tool that leverages existing engine optimizer stats - available in every DBMS - rather than learning a model or requiring a hand-written spec.</a:t>
            </a:r>
          </a:p>
          <a:p>
            <a:pPr/>
          </a:p>
          <a:p>
            <a:pPr/>
            <a:r>
              <a:t>WHAT THESE TOOLS ARE, if asked (TPC-H/DS/C vs SDV/PrivLava/RelDiff are NOT the same category - grouped here only because no category combines every property):</a:t>
            </a:r>
          </a:p>
          <a:p>
            <a:pPr/>
            <a:r>
              <a:t>- TPC-H / DS / C row = the benchmarks' own reference data generators (dbgen for TPC-H, dsdgen for TPC-DS, TPC-C's generator) - fixed, single-purpose tools hardcoded to their own benchmark schema. 'Not schema-general' means you can't point dbgen at an arbitrary customer schema - it only knows how to produce its own tables.</a:t>
            </a:r>
          </a:p>
          <a:p>
            <a:pPr/>
            <a:r>
              <a:t>- SDV (Synthetic Data Vault): open-source library that learns statistical models from real relational data to synthesize new data.</a:t>
            </a:r>
          </a:p>
          <a:p>
            <a:pPr/>
            <a:r>
              <a:t>- PrivLava: research system for differentially-private synthetic relational data generation, with formal DP guarantees.</a:t>
            </a:r>
          </a:p>
          <a:p>
            <a:pPr/>
            <a:r>
              <a:t>- RelDiff (2025): uses a diffusion model to learn and generate relational data.</a:t>
            </a:r>
          </a:p>
          <a:p>
            <a:pPr/>
            <a:r>
              <a:t>- SDV/PrivLava/RelDiff ARE schema-general, same as DataGenX - point them at any schema and they adapt. Their limitation is different: they need real source rows to train on, which DataGenX never touches.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8" name="Shape 1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this slide exists so the audience never has to take V1 on faith - they see the actual mechanism before we talk about what V2 automates.</a:t>
            </a:r>
          </a:p>
          <a:p>
            <a:pPr/>
          </a:p>
          <a:p>
            <a:pPr/>
            <a:r>
              <a:t>Talking points:</a:t>
            </a:r>
          </a:p>
          <a:p>
            <a:pPr/>
            <a:r>
              <a:t>- The core idea: instead of a separate config file or generation script, the generation logic for each column lives INSIDE the CREATE TABLE statement, as a specially-formatted SQL comment. The DDL is still 100% valid SQL - the comments are inert to any tool that doesn't know to look for them.</a:t>
            </a:r>
          </a:p>
          <a:p>
            <a:pPr/>
            <a:r>
              <a:t>- Walk the example: pk_col is just the row number; fk_col cycles through a range so it's a valid foreign key; date_col picks a synthetic date within a span. These are hand-written by a person who inspected the schema and statistics.</a:t>
            </a:r>
          </a:p>
          <a:p>
            <a:pPr/>
            <a:r>
              <a:t>- V1's contribution: it proved this model works - schema-independent, no source rows touched, validated end-to-end on TPC-C.</a:t>
            </a:r>
          </a:p>
          <a:p>
            <a:pPr/>
            <a:r>
              <a:t>- V1's limitation, which sets up the next slide: someone has to write every one of these annotations by hand. For a schema with dozens of tables and hundreds of columns, that's slow and error-prone - and it's exactly the gap V2 closes.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" name="Shape 1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now that V1 is explained, this slide argues automating it is real engineering, not a thin wrapper. Don't let 'automatic' sound trivial.</a:t>
            </a:r>
          </a:p>
          <a:p>
            <a:pPr/>
          </a:p>
          <a:p>
            <a:pPr/>
            <a:r>
              <a:t>Talking points:</a:t>
            </a:r>
          </a:p>
          <a:p>
            <a:pPr/>
            <a:r>
              <a:t>- FK dependency graph: this determines the ORDER tables are generated in. Get the topological sort wrong and you generate a child table before its parent exists - referential integrity breaks immediately.</a:t>
            </a:r>
          </a:p>
          <a:p>
            <a:pPr/>
            <a:r>
              <a:t>- Column classification: eleven distinct expression strategies (from the paper's Table 2) - every column has to be matched to the right one based on role, type, cardinality, and histogram shape, with no human checking the result.</a:t>
            </a:r>
          </a:p>
          <a:p>
            <a:pPr/>
            <a:r>
              <a:t>- Three engine adapters: MySQL, TiDB, SingleStore each expose histograms and catalog metadata completely differently - each adapter is its own normalization project.</a:t>
            </a:r>
          </a:p>
          <a:p>
            <a:pPr/>
            <a:r>
              <a:t>- Close on the ~5 second stat: that speed is only possible because all three of the above are fully automated and correct every time - it's the payoff, not a shortcut.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" name="Shape 1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show the concrete shape of the system - three lanes, each independently inspectable. This is the map the next slide (the worked example) will locate itself on.</a:t>
            </a:r>
          </a:p>
          <a:p>
            <a:pPr/>
          </a:p>
          <a:p>
            <a:pPr/>
            <a:r>
              <a:t>Talking points:</a:t>
            </a:r>
          </a:p>
          <a:p>
            <a:pPr/>
            <a:r>
              <a:t>- Level 1: three engine-specific adapters normalize whatever MySQL/TiDB/SingleStore exposes into one common statistics structure. This is the abstraction boundary - everything downstream is engine-agnostic.</a:t>
            </a:r>
          </a:p>
          <a:p>
            <a:pPr/>
            <a:r>
              <a:t>- Level 2: the FK graph and topological sort determine generation order; column classification and expression selection pick the right strategy per column; privacy remapping strips anything source-derived. Output is the annotated DDL - real, valid SQL.</a:t>
            </a:r>
          </a:p>
          <a:p>
            <a:pPr/>
            <a:r>
              <a:t>- Level 3: the DataGenX V1 binary just executes the annotated DDL - this is the only step V1 already did well, and it's unchanged.</a:t>
            </a:r>
          </a:p>
          <a:p>
            <a:pPr/>
            <a:r>
              <a:t>- Emphasize 'editable': Levels 1 and 2 output human-readable artifacts you can inspect or hand-edit before the next stage runs - this isn't a black box end to end.</a:t>
            </a:r>
          </a:p>
          <a:p>
            <a:pPr/>
            <a:r>
              <a:t>- Land the closing caption explicitly: because Level 1 is the only engine-specific layer, adding Postgres or MSSQL support later is a new adapter, not a rewrite. Levels 2 and 3 never change - they only ever see the normalized structure, never a raw MySQL/TiDB/SingleStore-specific format.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9" name="Shape 2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THIS SLIDE IS HERE: everything up to now has been described abstractly (graphs, classification, remapping). This is Level 2's actual output for one real table — proof the pipeline produces real, readable SQL, not a black box. Use it to make the previous two slides concrete.</a:t>
            </a:r>
          </a:p>
          <a:p>
            <a:pPr/>
          </a:p>
          <a:p>
            <a:pPr/>
            <a:r>
              <a:t>Walk through each column:</a:t>
            </a:r>
          </a:p>
          <a:p>
            <a:pPr/>
            <a:r>
              <a:t>- o_orderkey: single-column PK -&gt; just the row number. No statistics needed, nothing to remap.</a:t>
            </a:r>
          </a:p>
          <a:p>
            <a:pPr/>
            <a:r>
              <a:t>- o_custkey: FK to customer. Coverage is &gt;80% of the customer PK range, so it's classified 'dense' and gets a uniform rand.range over the referenced key range - cheap and statistically correct, and no source values involved.</a:t>
            </a:r>
          </a:p>
          <a:p>
            <a:pPr/>
            <a:r>
              <a:t>- o_orderdate: instead of reusing the real date range from the source (which would leak source information), we synthesize a base date and shift it by a span drawn from the histogram. Same spread as the source, no real dates copied.</a:t>
            </a:r>
          </a:p>
          <a:p>
            <a:pPr/>
            <a:r>
              <a:t>- o_totalprice: numeric column with an equi-height histogram. The CASE expression cycles through buckets so bucket weights and NDV are reproduced exactly, without copying a single source value.</a:t>
            </a:r>
          </a:p>
          <a:p>
            <a:pPr/>
          </a:p>
          <a:p>
            <a:pPr/>
            <a:r>
              <a:t>Close with: every one of these decisions was made automatically in Level 2 - this is the artifact a human would otherwise have had to hand-write, per column, per table.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Shape 2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make the privacy claim concrete and falsifiable - a specific list of what's banned and what's kept, not a vague 'we protect privacy.'</a:t>
            </a:r>
          </a:p>
          <a:p>
            <a:pPr/>
          </a:p>
          <a:p>
            <a:pPr/>
            <a:r>
              <a:t>Talking points:</a:t>
            </a:r>
          </a:p>
          <a:p>
            <a:pPr/>
            <a:r>
              <a:t>- Left column: these are the actual source-derived literals that never appear in the output - histogram boundaries, min/max, date ranges, top-N strings, and obviously the source rows themselves.</a:t>
            </a:r>
          </a:p>
          <a:p>
            <a:pPr/>
            <a:r>
              <a:t>- Right column: what's preserved instead is purely statistical shape - ordering, relative frequency, bucket weight, cardinality/span, relational structure. None of these expose a value.</a:t>
            </a:r>
          </a:p>
          <a:p>
            <a:pPr/>
            <a:r>
              <a:t>- Two-party deployment: this is an operational pattern, not a toggle in the code - the data owner can run Levels 1-2 on their own infrastructure and hand over only the annotated DDL, which is human-readable and auditable, so the handoff boundary is inspectable.</a:t>
            </a:r>
          </a:p>
          <a:p>
            <a:pPr/>
            <a:r>
              <a:t>- If asked about formal guarantees: we don't claim differential privacy - the guarantee is operational value non-leakage, verified by the two checks on the evaluation slide (row-level MD5, value-level literal check).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9" name="Shape 2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establish the rigor of the evaluation before showing results - what was tested, on what, and by what criteria.</a:t>
            </a:r>
          </a:p>
          <a:p>
            <a:pPr/>
          </a:p>
          <a:p>
            <a:pPr/>
            <a:r>
              <a:t>Talking points:</a:t>
            </a:r>
          </a:p>
          <a:p>
            <a:pPr/>
            <a:r>
              <a:t>- Three engines chosen deliberately: MySQL, TiDB, and SingleStore each expose catalog metadata and histograms differently, so passing on all three is a real generality test, not a single-engine result.</a:t>
            </a:r>
          </a:p>
          <a:p>
            <a:pPr/>
            <a:r>
              <a:t>- TPC-H (8 tables, explicit FKs) and TPC-DS (24 tables, composite FKs, slowly-changing dimensions) - TPC-DS is the harder schema and is where most bugs would show up.</a:t>
            </a:r>
          </a:p>
          <a:p>
            <a:pPr/>
            <a:r>
              <a:t>- Five validation dimensions, each with a hard threshold - not just eyeballing it: exact row match, &lt;5% histogram TVD, &lt;5% distinct-count difference, zero FK orphans, and the two-part privacy check.</a:t>
            </a:r>
          </a:p>
          <a:p>
            <a:pPr/>
            <a:r>
              <a:t>- Note for Q&amp;A: ground-truth comparison is only possible here because these are public benchmarks - in a real deployment there's no source data to compare against, which is exactly why the validation suite exists as a one-time confidence check, not a production dependency.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6" name="Shape 2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the payoff slide. Lead with the two big numbers, then let the tables back them up - don't read the tables cell by cell.</a:t>
            </a:r>
          </a:p>
          <a:p>
            <a:pPr/>
          </a:p>
          <a:p>
            <a:pPr/>
            <a:r>
              <a:t>Talking points:</a:t>
            </a:r>
          </a:p>
          <a:p>
            <a:pPr/>
            <a:r>
              <a:t>- Open with '100% FK integrity and privacy, every engine, every scale factor' - that's the headline.</a:t>
            </a:r>
          </a:p>
          <a:p>
            <a:pPr/>
            <a:r>
              <a:t>- Then '4.77% max histogram TVD, against a 5% threshold' - close but genuinely under, on the hardest column we found (LINEITEM L_QUANTITY at SF5).</a:t>
            </a:r>
          </a:p>
          <a:p>
            <a:pPr/>
            <a:r>
              <a:t>- Table note: histogram/FK counts differ by engine by design, not by failure - MySQL builds histograms on all columns, TiDB only on the columns its stats collection selects, SingleStore maintains a fixed set. Every histogram that IS reported, passes.</a:t>
            </a:r>
          </a:p>
          <a:p>
            <a:pPr/>
            <a:r>
              <a:t>- If asked about the numbers' provenance: these are from the paper's SF10 runs (Section 4.4-4.5); consistent with SF1 and SF5.</a:t>
            </a:r>
          </a:p>
          <a:p>
            <a:pPr/>
            <a:r>
              <a:t>- Bridge to next slide: this is what the pipeline in Level 1-3 actually produces, at scale, across every engine we tested.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3" name="Shape 3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the recap slide - by now every item here should feel earned, not new information. Say each one in one breath and move on.</a:t>
            </a:r>
          </a:p>
          <a:p>
            <a:pPr/>
          </a:p>
          <a:p>
            <a:pPr/>
            <a:r>
              <a:t>Talking points:</a:t>
            </a:r>
          </a:p>
          <a:p>
            <a:pPr/>
            <a:r>
              <a:t>- Items 1-2 are the core technical contributions (automated pipeline, privacy-preserving remapping) - already covered in depth.</a:t>
            </a:r>
          </a:p>
          <a:p>
            <a:pPr/>
            <a:r>
              <a:t>- Item 3 (adapters) and item 4 (validation framework) are the engineering breadth - three engines, five validation dimensions.</a:t>
            </a:r>
          </a:p>
          <a:p>
            <a:pPr/>
            <a:r>
              <a:t>- Item 5 is the proof: empirical validation at 10GB across three engines, results already shown.</a:t>
            </a:r>
          </a:p>
          <a:p>
            <a:pPr/>
            <a:r>
              <a:t>- If time is short, this slide can be skipped verbally and just left up while transitioning to future work - the audience can read it.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5" name="Shape 3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PURPOSE: close on where this goes next, then open the floor. Keep each item to one sentence.</a:t>
            </a:r>
          </a:p>
          <a:p>
            <a:pPr/>
          </a:p>
          <a:p>
            <a:pPr/>
            <a:r>
              <a:t>Talking points:</a:t>
            </a:r>
          </a:p>
          <a:p>
            <a:pPr/>
            <a:r>
              <a:t>- Tool hardening: the practical, unglamorous next step - error handling and a contribution path so this can go open-source.</a:t>
            </a:r>
          </a:p>
          <a:p>
            <a:pPr/>
            <a:r>
              <a:t>- Scale-factor adaptation: generate at a different scale than the source purely from catalog metadata - useful for a small dev instance or a much bigger load test.</a:t>
            </a:r>
          </a:p>
          <a:p>
            <a:pPr/>
            <a:r>
              <a:t>- AI-assisted statistics: for greenfield systems with no live database, describe the table in natural language and synthesize plausible stats instead of requiring a source at all.</a:t>
            </a:r>
          </a:p>
          <a:p>
            <a:pPr/>
            <a:r>
              <a:t>- Deeper fidelity: column-pair correlations and query-plan equivalence - EXPLAIN-level comparison is the natural next fidelity bar beyond statistics.</a:t>
            </a:r>
          </a:p>
          <a:p>
            <a:pPr/>
            <a:r>
              <a:t>- Anticipate this question: 'have you started on query-plan comparison?' Answer honestly - there's early exploratory tooling for TPC-H EXPLAIN comparison, but it's not a validated result and isn't in the paper.</a:t>
            </a:r>
          </a:p>
          <a:p>
            <a:pPr/>
            <a:r>
              <a:t>- End on the thank-you card and open for questions.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868680" y="853879"/>
            <a:ext cx="53949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300" sz="1300">
                <a:solidFill>
                  <a:srgbClr val="6B93D6"/>
                </a:solidFill>
              </a:defRPr>
            </a:lvl1pPr>
          </a:lstStyle>
          <a:p>
            <a:pPr/>
            <a:r>
              <a:t>TPC-TC 2026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868680" y="1873250"/>
            <a:ext cx="10424161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56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DataGenX V2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868680" y="2892536"/>
            <a:ext cx="9966961" cy="707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25000"/>
              </a:lnSpc>
              <a:defRPr sz="2000">
                <a:solidFill>
                  <a:srgbClr val="C7CDD9"/>
                </a:solidFill>
              </a:defRPr>
            </a:pPr>
            <a:r>
              <a:t>Automated, Privacy-Preserving Synthetic Relational Data Generation</a:t>
            </a:r>
          </a:p>
          <a:p>
            <a:pPr>
              <a:lnSpc>
                <a:spcPct val="125000"/>
              </a:lnSpc>
              <a:defRPr sz="2000">
                <a:solidFill>
                  <a:srgbClr val="C7CDD9"/>
                </a:solidFill>
              </a:defRPr>
            </a:pPr>
            <a:r>
              <a:t>from Database Statistics</a:t>
            </a:r>
          </a:p>
        </p:txBody>
      </p:sp>
      <p:sp>
        <p:nvSpPr>
          <p:cNvPr id="23" name="Shape 3"/>
          <p:cNvSpPr/>
          <p:nvPr/>
        </p:nvSpPr>
        <p:spPr>
          <a:xfrm>
            <a:off x="822960" y="4160520"/>
            <a:ext cx="10515601" cy="12803"/>
          </a:xfrm>
          <a:prstGeom prst="roundRect">
            <a:avLst>
              <a:gd name="adj" fmla="val 16667"/>
            </a:avLst>
          </a:prstGeom>
          <a:solidFill>
            <a:srgbClr val="3A3F4B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868680" y="4534339"/>
            <a:ext cx="10424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C7CDD9"/>
                </a:solidFill>
              </a:defRPr>
            </a:lvl1pPr>
          </a:lstStyle>
          <a:p>
            <a:pPr/>
            <a:r>
              <a:t>Sree Harsha Ramanavarapu   ·   Ahmad Ghazal   ·   Hanumath Maduri   ·   Qizhi Wang   ·   Ankit Kapoor   ·   Xianfei Deng   ·   Yu Dong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29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You need data you're often not allowed to have</a:t>
            </a:r>
          </a:p>
        </p:txBody>
      </p:sp>
      <p:sp>
        <p:nvSpPr>
          <p:cNvPr id="30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31" name="Text 3"/>
          <p:cNvSpPr txBox="1"/>
          <p:nvPr/>
        </p:nvSpPr>
        <p:spPr>
          <a:xfrm>
            <a:off x="11567160" y="6538721"/>
            <a:ext cx="365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2" name="Shape 4"/>
          <p:cNvSpPr/>
          <p:nvPr/>
        </p:nvSpPr>
        <p:spPr>
          <a:xfrm>
            <a:off x="548640" y="1417319"/>
            <a:ext cx="11091672" cy="1234441"/>
          </a:xfrm>
          <a:prstGeom prst="roundRect">
            <a:avLst>
              <a:gd name="adj" fmla="val 7407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5"/>
          <p:cNvSpPr txBox="1"/>
          <p:nvPr/>
        </p:nvSpPr>
        <p:spPr>
          <a:xfrm>
            <a:off x="960120" y="1667509"/>
            <a:ext cx="10332720" cy="734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30000"/>
              </a:lnSpc>
              <a:defRPr sz="1900">
                <a:solidFill>
                  <a:srgbClr val="C7CDD9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Engineering work needs a database that behaves like production. </a:t>
            </a:r>
            <a:r>
              <a:rPr>
                <a:solidFill>
                  <a:srgbClr val="E5C07B"/>
                </a:solidFill>
              </a:rPr>
              <a:t>Real data is frequently unavailable</a:t>
            </a:r>
            <a:r>
              <a:t> — so that data has to be simulated instead.</a:t>
            </a:r>
          </a:p>
        </p:txBody>
      </p:sp>
      <p:sp>
        <p:nvSpPr>
          <p:cNvPr id="34" name="Text 6"/>
          <p:cNvSpPr txBox="1"/>
          <p:nvPr/>
        </p:nvSpPr>
        <p:spPr>
          <a:xfrm>
            <a:off x="594360" y="2956998"/>
            <a:ext cx="7223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300">
                <a:solidFill>
                  <a:srgbClr val="8891A0"/>
                </a:solidFill>
              </a:defRPr>
            </a:lvl1pPr>
          </a:lstStyle>
          <a:p>
            <a:pPr/>
            <a:r>
              <a:t>Real data is unavailable for three reasons:</a:t>
            </a:r>
          </a:p>
        </p:txBody>
      </p:sp>
      <p:sp>
        <p:nvSpPr>
          <p:cNvPr id="35" name="Shape 7"/>
          <p:cNvSpPr/>
          <p:nvPr/>
        </p:nvSpPr>
        <p:spPr>
          <a:xfrm>
            <a:off x="548640" y="3337559"/>
            <a:ext cx="11091672" cy="960121"/>
          </a:xfrm>
          <a:prstGeom prst="roundRect">
            <a:avLst>
              <a:gd name="adj" fmla="val 9524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8"/>
          <p:cNvSpPr txBox="1"/>
          <p:nvPr/>
        </p:nvSpPr>
        <p:spPr>
          <a:xfrm>
            <a:off x="914400" y="3543299"/>
            <a:ext cx="914400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3A3F4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7" name="Text 9"/>
          <p:cNvSpPr txBox="1"/>
          <p:nvPr/>
        </p:nvSpPr>
        <p:spPr>
          <a:xfrm>
            <a:off x="2103119" y="3541462"/>
            <a:ext cx="29260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E5C07B"/>
                </a:solidFill>
              </a:defRPr>
            </a:lvl1pPr>
          </a:lstStyle>
          <a:p>
            <a:pPr/>
            <a:r>
              <a:t>Regulated</a:t>
            </a:r>
          </a:p>
        </p:txBody>
      </p:sp>
      <p:sp>
        <p:nvSpPr>
          <p:cNvPr id="38" name="Text 10"/>
          <p:cNvSpPr txBox="1"/>
          <p:nvPr/>
        </p:nvSpPr>
        <p:spPr>
          <a:xfrm>
            <a:off x="5257799" y="3688518"/>
            <a:ext cx="60350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7CDD9"/>
                </a:solidFill>
              </a:defRPr>
            </a:lvl1pPr>
          </a:lstStyle>
          <a:p>
            <a:pPr/>
            <a:r>
              <a:t>Production rows are governed by privacy regulations.</a:t>
            </a:r>
          </a:p>
        </p:txBody>
      </p:sp>
      <p:sp>
        <p:nvSpPr>
          <p:cNvPr id="39" name="Shape 11"/>
          <p:cNvSpPr/>
          <p:nvPr/>
        </p:nvSpPr>
        <p:spPr>
          <a:xfrm>
            <a:off x="548640" y="4480559"/>
            <a:ext cx="11091672" cy="960121"/>
          </a:xfrm>
          <a:prstGeom prst="roundRect">
            <a:avLst>
              <a:gd name="adj" fmla="val 9524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2"/>
          <p:cNvSpPr txBox="1"/>
          <p:nvPr/>
        </p:nvSpPr>
        <p:spPr>
          <a:xfrm>
            <a:off x="914400" y="4686299"/>
            <a:ext cx="914400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3A3F4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1" name="Text 13"/>
          <p:cNvSpPr txBox="1"/>
          <p:nvPr/>
        </p:nvSpPr>
        <p:spPr>
          <a:xfrm>
            <a:off x="2103119" y="4684462"/>
            <a:ext cx="29260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E5C07B"/>
                </a:solidFill>
              </a:defRPr>
            </a:lvl1pPr>
          </a:lstStyle>
          <a:p>
            <a:pPr/>
            <a:r>
              <a:t>Not shareable</a:t>
            </a:r>
          </a:p>
        </p:txBody>
      </p:sp>
      <p:sp>
        <p:nvSpPr>
          <p:cNvPr id="42" name="Text 14"/>
          <p:cNvSpPr txBox="1"/>
          <p:nvPr/>
        </p:nvSpPr>
        <p:spPr>
          <a:xfrm>
            <a:off x="5257799" y="4831518"/>
            <a:ext cx="60350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7CDD9"/>
                </a:solidFill>
              </a:defRPr>
            </a:lvl1pPr>
          </a:lstStyle>
          <a:p>
            <a:pPr/>
            <a:r>
              <a:t>The data belongs to a customer who cannot share it.</a:t>
            </a:r>
          </a:p>
        </p:txBody>
      </p:sp>
      <p:sp>
        <p:nvSpPr>
          <p:cNvPr id="43" name="Shape 15"/>
          <p:cNvSpPr/>
          <p:nvPr/>
        </p:nvSpPr>
        <p:spPr>
          <a:xfrm>
            <a:off x="548640" y="5623559"/>
            <a:ext cx="11091672" cy="960121"/>
          </a:xfrm>
          <a:prstGeom prst="roundRect">
            <a:avLst>
              <a:gd name="adj" fmla="val 9524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6"/>
          <p:cNvSpPr txBox="1"/>
          <p:nvPr/>
        </p:nvSpPr>
        <p:spPr>
          <a:xfrm>
            <a:off x="914400" y="5829299"/>
            <a:ext cx="914400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3A3F4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5" name="Text 17"/>
          <p:cNvSpPr txBox="1"/>
          <p:nvPr/>
        </p:nvSpPr>
        <p:spPr>
          <a:xfrm>
            <a:off x="2103119" y="5827462"/>
            <a:ext cx="29260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E5C07B"/>
                </a:solidFill>
              </a:defRPr>
            </a:lvl1pPr>
          </a:lstStyle>
          <a:p>
            <a:pPr/>
            <a:r>
              <a:t>Doesn't exist yet</a:t>
            </a:r>
          </a:p>
        </p:txBody>
      </p:sp>
      <p:sp>
        <p:nvSpPr>
          <p:cNvPr id="46" name="Text 18"/>
          <p:cNvSpPr txBox="1"/>
          <p:nvPr/>
        </p:nvSpPr>
        <p:spPr>
          <a:xfrm>
            <a:off x="5257799" y="5974518"/>
            <a:ext cx="60350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7CDD9"/>
                </a:solidFill>
              </a:defRPr>
            </a:lvl1pPr>
          </a:lstStyle>
          <a:p>
            <a:pPr/>
            <a:r>
              <a:t>The system is new — representative data was never collected.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WHERE THIS SHOWS UP</a:t>
            </a:r>
          </a:p>
        </p:txBody>
      </p:sp>
      <p:sp>
        <p:nvSpPr>
          <p:cNvPr id="51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same need, three everyday scenarios</a:t>
            </a:r>
          </a:p>
        </p:txBody>
      </p:sp>
      <p:sp>
        <p:nvSpPr>
          <p:cNvPr id="52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53" name="Text 3"/>
          <p:cNvSpPr txBox="1"/>
          <p:nvPr/>
        </p:nvSpPr>
        <p:spPr>
          <a:xfrm>
            <a:off x="11567160" y="65721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4" name="Text 4"/>
          <p:cNvSpPr txBox="1"/>
          <p:nvPr/>
        </p:nvSpPr>
        <p:spPr>
          <a:xfrm>
            <a:off x="594359" y="1459800"/>
            <a:ext cx="1097280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C7CDD9"/>
                </a:solidFill>
              </a:defRPr>
            </a:lvl1pPr>
          </a:lstStyle>
          <a:p>
            <a:pPr/>
            <a:r>
              <a:t>This gap between “need representative data” and “can't access real data” shows up constantly in database engineering work:</a:t>
            </a:r>
          </a:p>
        </p:txBody>
      </p:sp>
      <p:sp>
        <p:nvSpPr>
          <p:cNvPr id="55" name="Shape 5"/>
          <p:cNvSpPr/>
          <p:nvPr/>
        </p:nvSpPr>
        <p:spPr>
          <a:xfrm>
            <a:off x="548640" y="2148839"/>
            <a:ext cx="3547872" cy="3794761"/>
          </a:xfrm>
          <a:prstGeom prst="roundRect">
            <a:avLst>
              <a:gd name="adj" fmla="val 2577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hape 6"/>
          <p:cNvSpPr/>
          <p:nvPr/>
        </p:nvSpPr>
        <p:spPr>
          <a:xfrm>
            <a:off x="868680" y="25146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56B6C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7"/>
          <p:cNvSpPr txBox="1"/>
          <p:nvPr/>
        </p:nvSpPr>
        <p:spPr>
          <a:xfrm>
            <a:off x="914400" y="2595968"/>
            <a:ext cx="41148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1B1E23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8" name="Text 8"/>
          <p:cNvSpPr txBox="1"/>
          <p:nvPr/>
        </p:nvSpPr>
        <p:spPr>
          <a:xfrm>
            <a:off x="914399" y="3491229"/>
            <a:ext cx="2816354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5000"/>
              </a:lnSpc>
              <a:defRPr sz="16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Tuning a query optimizer</a:t>
            </a:r>
          </a:p>
        </p:txBody>
      </p:sp>
      <p:sp>
        <p:nvSpPr>
          <p:cNvPr id="59" name="Text 9"/>
          <p:cNvSpPr txBox="1"/>
          <p:nvPr/>
        </p:nvSpPr>
        <p:spPr>
          <a:xfrm>
            <a:off x="914399" y="4114800"/>
            <a:ext cx="2816354" cy="764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C7CDD9"/>
                </a:solidFill>
              </a:defRPr>
            </a:lvl1pPr>
          </a:lstStyle>
          <a:p>
            <a:pPr/>
            <a:r>
              <a:t>Reproducing plan-selection behavior requires a database with realistic cardinalities and skew — not toy data.</a:t>
            </a:r>
          </a:p>
        </p:txBody>
      </p:sp>
      <p:sp>
        <p:nvSpPr>
          <p:cNvPr id="60" name="Shape 10"/>
          <p:cNvSpPr/>
          <p:nvPr/>
        </p:nvSpPr>
        <p:spPr>
          <a:xfrm>
            <a:off x="4352544" y="2148839"/>
            <a:ext cx="3547872" cy="3794761"/>
          </a:xfrm>
          <a:prstGeom prst="roundRect">
            <a:avLst>
              <a:gd name="adj" fmla="val 2577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Shape 11"/>
          <p:cNvSpPr/>
          <p:nvPr/>
        </p:nvSpPr>
        <p:spPr>
          <a:xfrm>
            <a:off x="4672584" y="2514600"/>
            <a:ext cx="502921" cy="502920"/>
          </a:xfrm>
          <a:prstGeom prst="roundRect">
            <a:avLst>
              <a:gd name="adj" fmla="val 50000"/>
            </a:avLst>
          </a:prstGeom>
          <a:solidFill>
            <a:srgbClr val="C67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2"/>
          <p:cNvSpPr txBox="1"/>
          <p:nvPr/>
        </p:nvSpPr>
        <p:spPr>
          <a:xfrm>
            <a:off x="4718304" y="2595968"/>
            <a:ext cx="41148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1B1E23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3" name="Text 13"/>
          <p:cNvSpPr txBox="1"/>
          <p:nvPr/>
        </p:nvSpPr>
        <p:spPr>
          <a:xfrm>
            <a:off x="4718304" y="3352482"/>
            <a:ext cx="2816353" cy="610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5000"/>
              </a:lnSpc>
              <a:defRPr sz="16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Reproducing a production incident</a:t>
            </a:r>
          </a:p>
        </p:txBody>
      </p:sp>
      <p:sp>
        <p:nvSpPr>
          <p:cNvPr id="64" name="Text 14"/>
          <p:cNvSpPr txBox="1"/>
          <p:nvPr/>
        </p:nvSpPr>
        <p:spPr>
          <a:xfrm>
            <a:off x="4718304" y="4114800"/>
            <a:ext cx="2816353" cy="1017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C7CDD9"/>
                </a:solidFill>
              </a:defRPr>
            </a:lvl1pPr>
          </a:lstStyle>
          <a:p>
            <a:pPr/>
            <a:r>
              <a:t>Debugging requires a database that triggers the same plan the incident did, without touching the customer's actual rows.</a:t>
            </a:r>
          </a:p>
        </p:txBody>
      </p:sp>
      <p:sp>
        <p:nvSpPr>
          <p:cNvPr id="65" name="Shape 15"/>
          <p:cNvSpPr/>
          <p:nvPr/>
        </p:nvSpPr>
        <p:spPr>
          <a:xfrm>
            <a:off x="8156447" y="2148839"/>
            <a:ext cx="3547873" cy="3794761"/>
          </a:xfrm>
          <a:prstGeom prst="roundRect">
            <a:avLst>
              <a:gd name="adj" fmla="val 2577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Shape 16"/>
          <p:cNvSpPr/>
          <p:nvPr/>
        </p:nvSpPr>
        <p:spPr>
          <a:xfrm>
            <a:off x="8476488" y="2514600"/>
            <a:ext cx="502921" cy="502920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17"/>
          <p:cNvSpPr txBox="1"/>
          <p:nvPr/>
        </p:nvSpPr>
        <p:spPr>
          <a:xfrm>
            <a:off x="8522208" y="2595968"/>
            <a:ext cx="41148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1B1E23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8" name="Text 18"/>
          <p:cNvSpPr txBox="1"/>
          <p:nvPr/>
        </p:nvSpPr>
        <p:spPr>
          <a:xfrm>
            <a:off x="8522207" y="3352482"/>
            <a:ext cx="2816354" cy="610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5000"/>
              </a:lnSpc>
              <a:defRPr sz="16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Stress-testing a new storage engine</a:t>
            </a:r>
          </a:p>
        </p:txBody>
      </p:sp>
      <p:sp>
        <p:nvSpPr>
          <p:cNvPr id="69" name="Text 19"/>
          <p:cNvSpPr txBox="1"/>
          <p:nvPr/>
        </p:nvSpPr>
        <p:spPr>
          <a:xfrm>
            <a:off x="8522207" y="4114800"/>
            <a:ext cx="2816354" cy="1017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C7CDD9"/>
                </a:solidFill>
              </a:defRPr>
            </a:lvl1pPr>
          </a:lstStyle>
          <a:p>
            <a:pPr/>
            <a:r>
              <a:t>Benchmarking a new engine or version requires representative volume and distribution before it ever sees production.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CORE PROBLEM</a:t>
            </a:r>
          </a:p>
        </p:txBody>
      </p:sp>
      <p:sp>
        <p:nvSpPr>
          <p:cNvPr id="74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Faithful representation needs three properties</a:t>
            </a:r>
          </a:p>
        </p:txBody>
      </p:sp>
      <p:sp>
        <p:nvSpPr>
          <p:cNvPr id="75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76" name="Text 3"/>
          <p:cNvSpPr txBox="1"/>
          <p:nvPr/>
        </p:nvSpPr>
        <p:spPr>
          <a:xfrm>
            <a:off x="11567160" y="65721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7" name="Shape 4"/>
          <p:cNvSpPr/>
          <p:nvPr/>
        </p:nvSpPr>
        <p:spPr>
          <a:xfrm>
            <a:off x="548640" y="1554480"/>
            <a:ext cx="3547872" cy="4114801"/>
          </a:xfrm>
          <a:prstGeom prst="roundRect">
            <a:avLst>
              <a:gd name="adj" fmla="val 2577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5"/>
          <p:cNvSpPr/>
          <p:nvPr/>
        </p:nvSpPr>
        <p:spPr>
          <a:xfrm>
            <a:off x="868680" y="1920239"/>
            <a:ext cx="502920" cy="502921"/>
          </a:xfrm>
          <a:prstGeom prst="roundRect">
            <a:avLst>
              <a:gd name="adj" fmla="val 50000"/>
            </a:avLst>
          </a:prstGeom>
          <a:solidFill>
            <a:srgbClr val="56B6C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6"/>
          <p:cNvSpPr txBox="1"/>
          <p:nvPr/>
        </p:nvSpPr>
        <p:spPr>
          <a:xfrm>
            <a:off x="914400" y="2001608"/>
            <a:ext cx="41148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1B1E23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0" name="Text 7"/>
          <p:cNvSpPr txBox="1"/>
          <p:nvPr/>
        </p:nvSpPr>
        <p:spPr>
          <a:xfrm>
            <a:off x="914399" y="2701289"/>
            <a:ext cx="2816354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Schema Structure</a:t>
            </a:r>
          </a:p>
        </p:txBody>
      </p:sp>
      <p:sp>
        <p:nvSpPr>
          <p:cNvPr id="81" name="Text 8"/>
          <p:cNvSpPr txBox="1"/>
          <p:nvPr/>
        </p:nvSpPr>
        <p:spPr>
          <a:xfrm>
            <a:off x="914399" y="3246120"/>
            <a:ext cx="2816354" cy="764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C7CDD9"/>
                </a:solidFill>
              </a:defRPr>
            </a:lvl1pPr>
          </a:lstStyle>
          <a:p>
            <a:pPr/>
            <a:r>
              <a:t>Table definitions, column types, and lengths — the structural skeleton of the database.</a:t>
            </a:r>
          </a:p>
        </p:txBody>
      </p:sp>
      <p:sp>
        <p:nvSpPr>
          <p:cNvPr id="82" name="Shape 9"/>
          <p:cNvSpPr/>
          <p:nvPr/>
        </p:nvSpPr>
        <p:spPr>
          <a:xfrm>
            <a:off x="4352544" y="1554480"/>
            <a:ext cx="3547872" cy="4114801"/>
          </a:xfrm>
          <a:prstGeom prst="roundRect">
            <a:avLst>
              <a:gd name="adj" fmla="val 2577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10"/>
          <p:cNvSpPr/>
          <p:nvPr/>
        </p:nvSpPr>
        <p:spPr>
          <a:xfrm>
            <a:off x="4672584" y="1920239"/>
            <a:ext cx="502921" cy="502921"/>
          </a:xfrm>
          <a:prstGeom prst="roundRect">
            <a:avLst>
              <a:gd name="adj" fmla="val 50000"/>
            </a:avLst>
          </a:prstGeom>
          <a:solidFill>
            <a:srgbClr val="C67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1"/>
          <p:cNvSpPr txBox="1"/>
          <p:nvPr/>
        </p:nvSpPr>
        <p:spPr>
          <a:xfrm>
            <a:off x="4718304" y="2001608"/>
            <a:ext cx="41148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1B1E23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5" name="Text 12"/>
          <p:cNvSpPr txBox="1"/>
          <p:nvPr/>
        </p:nvSpPr>
        <p:spPr>
          <a:xfrm>
            <a:off x="4718304" y="2701289"/>
            <a:ext cx="2816353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Integrity Constraints</a:t>
            </a:r>
          </a:p>
        </p:txBody>
      </p:sp>
      <p:sp>
        <p:nvSpPr>
          <p:cNvPr id="86" name="Text 13"/>
          <p:cNvSpPr txBox="1"/>
          <p:nvPr/>
        </p:nvSpPr>
        <p:spPr>
          <a:xfrm>
            <a:off x="4718304" y="3246120"/>
            <a:ext cx="2816353" cy="1017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C7CDD9"/>
                </a:solidFill>
              </a:defRPr>
            </a:lvl1pPr>
          </a:lstStyle>
          <a:p>
            <a:pPr/>
            <a:r>
              <a:t>PK/FK relationships and parent-child cardinalities. Ignoring them breaks joins and misleads the optimizer's plan choice.</a:t>
            </a:r>
          </a:p>
        </p:txBody>
      </p:sp>
      <p:sp>
        <p:nvSpPr>
          <p:cNvPr id="87" name="Shape 14"/>
          <p:cNvSpPr/>
          <p:nvPr/>
        </p:nvSpPr>
        <p:spPr>
          <a:xfrm>
            <a:off x="8156447" y="1554480"/>
            <a:ext cx="3547873" cy="4114801"/>
          </a:xfrm>
          <a:prstGeom prst="roundRect">
            <a:avLst>
              <a:gd name="adj" fmla="val 2577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15"/>
          <p:cNvSpPr/>
          <p:nvPr/>
        </p:nvSpPr>
        <p:spPr>
          <a:xfrm>
            <a:off x="8476488" y="1920239"/>
            <a:ext cx="502921" cy="502921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6"/>
          <p:cNvSpPr txBox="1"/>
          <p:nvPr/>
        </p:nvSpPr>
        <p:spPr>
          <a:xfrm>
            <a:off x="8522208" y="2001608"/>
            <a:ext cx="41148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1B1E23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0" name="Text 17"/>
          <p:cNvSpPr txBox="1"/>
          <p:nvPr/>
        </p:nvSpPr>
        <p:spPr>
          <a:xfrm>
            <a:off x="8522207" y="2701289"/>
            <a:ext cx="2816354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Data Distribution</a:t>
            </a:r>
          </a:p>
        </p:txBody>
      </p:sp>
      <p:sp>
        <p:nvSpPr>
          <p:cNvPr id="91" name="Text 18"/>
          <p:cNvSpPr txBox="1"/>
          <p:nvPr/>
        </p:nvSpPr>
        <p:spPr>
          <a:xfrm>
            <a:off x="8522207" y="3246120"/>
            <a:ext cx="2816354" cy="764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C7CDD9"/>
                </a:solidFill>
              </a:defRPr>
            </a:lvl1pPr>
          </a:lstStyle>
          <a:p>
            <a:pPr/>
            <a:r>
              <a:t>Row counts, distinct values, histograms, skew, and top-N values — the shape of the data.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THE INSIGHT</a:t>
            </a:r>
          </a:p>
        </p:txBody>
      </p:sp>
      <p:sp>
        <p:nvSpPr>
          <p:cNvPr id="96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Optimizer statistics are a generation spec in disguise</a:t>
            </a:r>
          </a:p>
        </p:txBody>
      </p:sp>
      <p:sp>
        <p:nvSpPr>
          <p:cNvPr id="97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98" name="Text 3"/>
          <p:cNvSpPr txBox="1"/>
          <p:nvPr/>
        </p:nvSpPr>
        <p:spPr>
          <a:xfrm>
            <a:off x="11567160" y="65721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9" name="Shape 4"/>
          <p:cNvSpPr/>
          <p:nvPr/>
        </p:nvSpPr>
        <p:spPr>
          <a:xfrm>
            <a:off x="548640" y="137160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5"/>
          <p:cNvSpPr txBox="1"/>
          <p:nvPr/>
        </p:nvSpPr>
        <p:spPr>
          <a:xfrm>
            <a:off x="960120" y="1620202"/>
            <a:ext cx="10332720" cy="691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25000"/>
              </a:lnSpc>
              <a:defRPr>
                <a:solidFill>
                  <a:srgbClr val="C7CDD9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The same statistics that guide the query optimizer </a:t>
            </a:r>
            <a:r>
              <a:rPr>
                <a:solidFill>
                  <a:srgbClr val="E5C07B"/>
                </a:solidFill>
              </a:rPr>
              <a:t>can describe the source data completely enough to simulate a statistically equivalent system</a:t>
            </a:r>
            <a:r>
              <a:t> — without accessing a single source row.</a:t>
            </a:r>
          </a:p>
        </p:txBody>
      </p:sp>
      <p:sp>
        <p:nvSpPr>
          <p:cNvPr id="101" name="Text 6"/>
          <p:cNvSpPr txBox="1"/>
          <p:nvPr/>
        </p:nvSpPr>
        <p:spPr>
          <a:xfrm>
            <a:off x="594360" y="2690991"/>
            <a:ext cx="11000232" cy="47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i="1" sz="1200">
                <a:solidFill>
                  <a:srgbClr val="8891A0"/>
                </a:solidFill>
              </a:defRPr>
            </a:lvl1pPr>
          </a:lstStyle>
          <a:p>
            <a:pPr/>
            <a:r>
              <a:t>Every DBMS already collects these statistics for the optimizer. DataGenX V2 is the only tool that reuses them directly — no other tool combines all five properties below, automated:</a:t>
            </a:r>
          </a:p>
        </p:txBody>
      </p:sp>
      <p:graphicFrame>
        <p:nvGraphicFramePr>
          <p:cNvPr id="102" name="Table 0"/>
          <p:cNvGraphicFramePr/>
          <p:nvPr/>
        </p:nvGraphicFramePr>
        <p:xfrm>
          <a:off x="548640" y="3246120"/>
          <a:ext cx="11091672" cy="26517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108960"/>
                <a:gridCol w="1417320"/>
                <a:gridCol w="2331720"/>
                <a:gridCol w="1691640"/>
                <a:gridCol w="1234440"/>
                <a:gridCol w="1307592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2F4F8"/>
                          </a:solidFill>
                        </a:rPr>
                        <a:t>Tool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2F4F8"/>
                          </a:solidFill>
                        </a:rPr>
                        <a:t>Any Schema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2F4F8"/>
                          </a:solidFill>
                        </a:rPr>
                        <a:t>Uses Optimizer Stats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2F4F8"/>
                          </a:solidFill>
                        </a:rPr>
                        <a:t>No Source Rows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2F4F8"/>
                          </a:solidFill>
                        </a:rPr>
                        <a:t>Automated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2F4F8"/>
                          </a:solidFill>
                        </a:rPr>
                        <a:t>Verified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C7CDD9"/>
                          </a:solidFill>
                        </a:rPr>
                        <a:t>DataGenX V2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27C93F"/>
                          </a:solidFill>
                        </a:rPr>
                        <a:t>✓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27C93F"/>
                          </a:solidFill>
                        </a:rPr>
                        <a:t>✓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27C93F"/>
                          </a:solidFill>
                        </a:rPr>
                        <a:t>✓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27C93F"/>
                          </a:solidFill>
                        </a:rPr>
                        <a:t>✓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27C93F"/>
                          </a:solidFill>
                        </a:rPr>
                        <a:t>✓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E344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C7CDD9"/>
                          </a:solidFill>
                        </a:rPr>
                        <a:t>TPC-H / DS / C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E06C75"/>
                          </a:solidFill>
                        </a:rPr>
                        <a:t>✗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E06C75"/>
                          </a:solidFill>
                        </a:rPr>
                        <a:t>✗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27C93F"/>
                          </a:solidFill>
                        </a:rPr>
                        <a:t>✓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27C93F"/>
                          </a:solidFill>
                        </a:rPr>
                        <a:t>✓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8891A0"/>
                          </a:solidFill>
                        </a:rPr>
                        <a:t>~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C7CDD9"/>
                          </a:solidFill>
                        </a:rPr>
                        <a:t>PDGF / Myriad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27C93F"/>
                          </a:solidFill>
                        </a:rPr>
                        <a:t>✓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8891A0"/>
                          </a:solidFill>
                        </a:rPr>
                        <a:t>~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27C93F"/>
                          </a:solidFill>
                        </a:rPr>
                        <a:t>✓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E06C75"/>
                          </a:solidFill>
                        </a:rPr>
                        <a:t>✗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E06C75"/>
                          </a:solidFill>
                        </a:rPr>
                        <a:t>✗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C7CDD9"/>
                          </a:solidFill>
                        </a:rPr>
                        <a:t>SDV / PrivLava / RelDiff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8891A0"/>
                          </a:solidFill>
                        </a:rPr>
                        <a:t>~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E06C75"/>
                          </a:solidFill>
                        </a:rPr>
                        <a:t>✗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E06C75"/>
                          </a:solidFill>
                        </a:rPr>
                        <a:t>✗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8891A0"/>
                          </a:solidFill>
                        </a:rPr>
                        <a:t>~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E06C75"/>
                          </a:solidFill>
                        </a:rPr>
                        <a:t>✗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</a:tr>
            </a:tbl>
          </a:graphicData>
        </a:graphic>
      </p:graphicFrame>
      <p:sp>
        <p:nvSpPr>
          <p:cNvPr id="103" name="Text 7"/>
          <p:cNvSpPr txBox="1"/>
          <p:nvPr/>
        </p:nvSpPr>
        <p:spPr>
          <a:xfrm>
            <a:off x="594360" y="6074374"/>
            <a:ext cx="11000232" cy="24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i="1" sz="1100">
                <a:solidFill>
                  <a:srgbClr val="8891A0"/>
                </a:solidFill>
              </a:defRPr>
            </a:lvl1pPr>
          </a:lstStyle>
          <a:p>
            <a:pPr/>
            <a:r>
              <a:t>SDV, PrivLava, and RelDiff learn distributions by training on real source rows — they don't read stats the engine already maintains, so “Uses Optimizer Stats” is a genuine ✗, not just a nuance.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BACKGROUND</a:t>
            </a:r>
          </a:p>
        </p:txBody>
      </p:sp>
      <p:sp>
        <p:nvSpPr>
          <p:cNvPr id="108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What is DataGenX V1?</a:t>
            </a:r>
          </a:p>
        </p:txBody>
      </p:sp>
      <p:sp>
        <p:nvSpPr>
          <p:cNvPr id="109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110" name="Text 3"/>
          <p:cNvSpPr txBox="1"/>
          <p:nvPr/>
        </p:nvSpPr>
        <p:spPr>
          <a:xfrm>
            <a:off x="11567160" y="65721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1" name="Text 4"/>
          <p:cNvSpPr txBox="1"/>
          <p:nvPr/>
        </p:nvSpPr>
        <p:spPr>
          <a:xfrm>
            <a:off x="594359" y="1326564"/>
            <a:ext cx="10972802" cy="54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C7CDD9"/>
                </a:solidFill>
              </a:defRPr>
            </a:lvl1pPr>
          </a:lstStyle>
          <a:p>
            <a:pPr/>
            <a:r>
              <a:t>V1 introduced the core idea DataGenX builds on: generation logic can live directly inside the schema itself, as structured comments attached to each column.</a:t>
            </a:r>
          </a:p>
        </p:txBody>
      </p:sp>
      <p:sp>
        <p:nvSpPr>
          <p:cNvPr id="112" name="Shape 5"/>
          <p:cNvSpPr/>
          <p:nvPr/>
        </p:nvSpPr>
        <p:spPr>
          <a:xfrm>
            <a:off x="548640" y="2011679"/>
            <a:ext cx="11091672" cy="2423161"/>
          </a:xfrm>
          <a:prstGeom prst="roundRect">
            <a:avLst>
              <a:gd name="adj" fmla="val 3774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Shape 6"/>
          <p:cNvSpPr/>
          <p:nvPr/>
        </p:nvSpPr>
        <p:spPr>
          <a:xfrm>
            <a:off x="868680" y="2267711"/>
            <a:ext cx="128017" cy="128017"/>
          </a:xfrm>
          <a:prstGeom prst="ellipse">
            <a:avLst/>
          </a:prstGeom>
          <a:solidFill>
            <a:srgbClr val="FF5F5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Shape 7"/>
          <p:cNvSpPr/>
          <p:nvPr/>
        </p:nvSpPr>
        <p:spPr>
          <a:xfrm>
            <a:off x="1078991" y="2267711"/>
            <a:ext cx="128017" cy="128017"/>
          </a:xfrm>
          <a:prstGeom prst="ellipse">
            <a:avLst/>
          </a:prstGeom>
          <a:solidFill>
            <a:srgbClr val="FFBD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Shape 8"/>
          <p:cNvSpPr/>
          <p:nvPr/>
        </p:nvSpPr>
        <p:spPr>
          <a:xfrm>
            <a:off x="1289303" y="2267711"/>
            <a:ext cx="128017" cy="128017"/>
          </a:xfrm>
          <a:prstGeom prst="ellipse">
            <a:avLst/>
          </a:prstGeom>
          <a:solidFill>
            <a:srgbClr val="27C93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9"/>
          <p:cNvSpPr txBox="1"/>
          <p:nvPr/>
        </p:nvSpPr>
        <p:spPr>
          <a:xfrm>
            <a:off x="960119" y="2542032"/>
            <a:ext cx="1026871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CREATE</a:t>
            </a:r>
            <a:r>
              <a:rPr>
                <a:solidFill>
                  <a:srgbClr val="ABB2BF"/>
                </a:solidFill>
              </a:rPr>
              <a:t> </a:t>
            </a:r>
            <a:r>
              <a:t>TABLE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E5C07B"/>
                </a:solidFill>
              </a:rPr>
              <a:t>`table_name`</a:t>
            </a:r>
            <a:r>
              <a:rPr>
                <a:solidFill>
                  <a:srgbClr val="ABB2BF"/>
                </a:solidFill>
              </a:rPr>
              <a:t> (</a:t>
            </a:r>
          </a:p>
          <a:p>
            <a:pPr>
              <a:lnSpc>
                <a:spcPct val="130000"/>
              </a:lnSpc>
              <a:defRPr sz="13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`pk_col`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56B6C2"/>
                </a:solidFill>
              </a:rPr>
              <a:t>int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C678DD"/>
                </a:solidFill>
              </a:rPr>
              <a:t>NOT NULL</a:t>
            </a:r>
            <a:r>
              <a:rPr>
                <a:solidFill>
                  <a:srgbClr val="ABB2BF"/>
                </a:solidFill>
              </a:rPr>
              <a:t> </a:t>
            </a:r>
            <a:r>
              <a:rPr i="1">
                <a:solidFill>
                  <a:srgbClr val="7F8A9C"/>
                </a:solidFill>
              </a:rPr>
              <a:t>/*{{ @pk_col := rownum }}*/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lnSpc>
                <a:spcPct val="130000"/>
              </a:lnSpc>
              <a:defRPr sz="13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`fk_col`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56B6C2"/>
                </a:solidFill>
              </a:rPr>
              <a:t>int</a:t>
            </a:r>
            <a:r>
              <a:rPr>
                <a:solidFill>
                  <a:srgbClr val="ABB2BF"/>
                </a:solidFill>
              </a:rPr>
              <a:t> </a:t>
            </a:r>
            <a:r>
              <a:rPr i="1">
                <a:solidFill>
                  <a:srgbClr val="7F8A9C"/>
                </a:solidFill>
              </a:rPr>
              <a:t>/*{{ @fk_col := mod(rownum-1, 1000) + 1 }}*/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lnSpc>
                <a:spcPct val="130000"/>
              </a:lnSpc>
              <a:defRPr sz="13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`date_col`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56B6C2"/>
                </a:solidFill>
              </a:rPr>
              <a:t>date</a:t>
            </a:r>
            <a:r>
              <a:rPr>
                <a:solidFill>
                  <a:srgbClr val="ABB2BF"/>
                </a:solidFill>
              </a:rPr>
              <a:t> </a:t>
            </a:r>
            <a:r>
              <a:rPr i="1">
                <a:solidFill>
                  <a:srgbClr val="7F8A9C"/>
                </a:solidFill>
              </a:rPr>
              <a:t>/*{{ @date_col := TIMESTAMP '2000-01-01' + INTERVAL rand.range(0, 365) DAY }}*/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lnSpc>
                <a:spcPct val="130000"/>
              </a:lnSpc>
              <a:defRPr sz="13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PRIMARY KEY</a:t>
            </a:r>
            <a:r>
              <a:rPr>
                <a:solidFill>
                  <a:srgbClr val="ABB2BF"/>
                </a:solidFill>
              </a:rPr>
              <a:t> (</a:t>
            </a:r>
            <a:r>
              <a:rPr>
                <a:solidFill>
                  <a:srgbClr val="E5C07B"/>
                </a:solidFill>
              </a:rPr>
              <a:t>`pk_col`</a:t>
            </a:r>
            <a:r>
              <a:rPr>
                <a:solidFill>
                  <a:srgbClr val="ABB2BF"/>
                </a:solidFill>
              </a:rPr>
              <a:t>),</a:t>
            </a:r>
          </a:p>
          <a:p>
            <a:pPr>
              <a:lnSpc>
                <a:spcPct val="130000"/>
              </a:lnSpc>
              <a:defRPr sz="13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FOREIGN KEY</a:t>
            </a:r>
            <a:r>
              <a:rPr>
                <a:solidFill>
                  <a:srgbClr val="ABB2BF"/>
                </a:solidFill>
              </a:rPr>
              <a:t> (</a:t>
            </a:r>
            <a:r>
              <a:rPr>
                <a:solidFill>
                  <a:srgbClr val="E5C07B"/>
                </a:solidFill>
              </a:rPr>
              <a:t>`fk_col`</a:t>
            </a:r>
            <a:r>
              <a:rPr>
                <a:solidFill>
                  <a:srgbClr val="ABB2BF"/>
                </a:solidFill>
              </a:rPr>
              <a:t>) </a:t>
            </a:r>
            <a:r>
              <a:t>REFERENCES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E5C07B"/>
                </a:solidFill>
              </a:rPr>
              <a:t>`ref_table`</a:t>
            </a:r>
            <a:r>
              <a:rPr>
                <a:solidFill>
                  <a:srgbClr val="ABB2BF"/>
                </a:solidFill>
              </a:rPr>
              <a:t> (</a:t>
            </a:r>
            <a:r>
              <a:rPr>
                <a:solidFill>
                  <a:srgbClr val="E5C07B"/>
                </a:solidFill>
              </a:rPr>
              <a:t>`ref_pk`</a:t>
            </a:r>
            <a:r>
              <a:rPr>
                <a:solidFill>
                  <a:srgbClr val="ABB2BF"/>
                </a:solidFill>
              </a:rPr>
              <a:t>)</a:t>
            </a:r>
          </a:p>
          <a:p>
            <a:pPr>
              <a:lnSpc>
                <a:spcPct val="130000"/>
              </a:lnSpc>
              <a:defRPr sz="13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</p:txBody>
      </p:sp>
      <p:sp>
        <p:nvSpPr>
          <p:cNvPr id="117" name="Shape 10"/>
          <p:cNvSpPr/>
          <p:nvPr/>
        </p:nvSpPr>
        <p:spPr>
          <a:xfrm>
            <a:off x="548640" y="4617720"/>
            <a:ext cx="3547872" cy="1143001"/>
          </a:xfrm>
          <a:prstGeom prst="roundRect">
            <a:avLst>
              <a:gd name="adj" fmla="val 8000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11"/>
          <p:cNvSpPr txBox="1"/>
          <p:nvPr/>
        </p:nvSpPr>
        <p:spPr>
          <a:xfrm>
            <a:off x="868680" y="4824792"/>
            <a:ext cx="290779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56B6C2"/>
                </a:solidFill>
              </a:defRPr>
            </a:lvl1pPr>
          </a:lstStyle>
          <a:p>
            <a:pPr/>
            <a:r>
              <a:t>Schema-independent</a:t>
            </a:r>
          </a:p>
        </p:txBody>
      </p:sp>
      <p:sp>
        <p:nvSpPr>
          <p:cNvPr id="119" name="Text 12"/>
          <p:cNvSpPr txBox="1"/>
          <p:nvPr/>
        </p:nvSpPr>
        <p:spPr>
          <a:xfrm>
            <a:off x="868680" y="5155949"/>
            <a:ext cx="2907793" cy="478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Works on any table shape — nothing hardcoded to a benchmark or domain.</a:t>
            </a:r>
          </a:p>
        </p:txBody>
      </p:sp>
      <p:sp>
        <p:nvSpPr>
          <p:cNvPr id="120" name="Shape 13"/>
          <p:cNvSpPr/>
          <p:nvPr/>
        </p:nvSpPr>
        <p:spPr>
          <a:xfrm>
            <a:off x="4352544" y="4617720"/>
            <a:ext cx="3547872" cy="1143001"/>
          </a:xfrm>
          <a:prstGeom prst="roundRect">
            <a:avLst>
              <a:gd name="adj" fmla="val 8000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14"/>
          <p:cNvSpPr txBox="1"/>
          <p:nvPr/>
        </p:nvSpPr>
        <p:spPr>
          <a:xfrm>
            <a:off x="4672584" y="4824792"/>
            <a:ext cx="290779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C678DD"/>
                </a:solidFill>
              </a:defRPr>
            </a:lvl1pPr>
          </a:lstStyle>
          <a:p>
            <a:pPr/>
            <a:r>
              <a:t>No source rows needed</a:t>
            </a:r>
          </a:p>
        </p:txBody>
      </p:sp>
      <p:sp>
        <p:nvSpPr>
          <p:cNvPr id="122" name="Text 15"/>
          <p:cNvSpPr txBox="1"/>
          <p:nvPr/>
        </p:nvSpPr>
        <p:spPr>
          <a:xfrm>
            <a:off x="4672584" y="5155949"/>
            <a:ext cx="2907793" cy="478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The engine executes the embedded expressions; it never reads real data.</a:t>
            </a:r>
          </a:p>
        </p:txBody>
      </p:sp>
      <p:sp>
        <p:nvSpPr>
          <p:cNvPr id="123" name="Shape 16"/>
          <p:cNvSpPr/>
          <p:nvPr/>
        </p:nvSpPr>
        <p:spPr>
          <a:xfrm>
            <a:off x="8156447" y="4617720"/>
            <a:ext cx="3547873" cy="1143001"/>
          </a:xfrm>
          <a:prstGeom prst="roundRect">
            <a:avLst>
              <a:gd name="adj" fmla="val 8000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17"/>
          <p:cNvSpPr txBox="1"/>
          <p:nvPr/>
        </p:nvSpPr>
        <p:spPr>
          <a:xfrm>
            <a:off x="8476488" y="4824792"/>
            <a:ext cx="290779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E5C07B"/>
                </a:solidFill>
              </a:defRPr>
            </a:lvl1pPr>
          </a:lstStyle>
          <a:p>
            <a:pPr/>
            <a:r>
              <a:t>Validated on TPC-C</a:t>
            </a:r>
          </a:p>
        </p:txBody>
      </p:sp>
      <p:sp>
        <p:nvSpPr>
          <p:cNvPr id="125" name="Text 18"/>
          <p:cNvSpPr txBox="1"/>
          <p:nvPr/>
        </p:nvSpPr>
        <p:spPr>
          <a:xfrm>
            <a:off x="8476488" y="5155949"/>
            <a:ext cx="2907793" cy="478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Proved the model matches reference row counts, distinct counts, and FK validity.</a:t>
            </a:r>
          </a:p>
        </p:txBody>
      </p:sp>
      <p:sp>
        <p:nvSpPr>
          <p:cNvPr id="126" name="Text 19"/>
          <p:cNvSpPr txBox="1"/>
          <p:nvPr/>
        </p:nvSpPr>
        <p:spPr>
          <a:xfrm>
            <a:off x="594360" y="6002327"/>
            <a:ext cx="1100023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891A0"/>
                </a:solidFill>
              </a:defRPr>
            </a:lvl1pPr>
          </a:lstStyle>
          <a:p>
            <a:pPr/>
            <a:r>
              <a:t>V1's limitation: every one of these annotations had to be written by hand, per column, per table.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FROM V1 TO V2</a:t>
            </a:r>
          </a:p>
        </p:txBody>
      </p:sp>
      <p:sp>
        <p:nvSpPr>
          <p:cNvPr id="131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What “automatic” actually has to get right</a:t>
            </a:r>
          </a:p>
        </p:txBody>
      </p:sp>
      <p:sp>
        <p:nvSpPr>
          <p:cNvPr id="132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133" name="Text 3"/>
          <p:cNvSpPr txBox="1"/>
          <p:nvPr/>
        </p:nvSpPr>
        <p:spPr>
          <a:xfrm>
            <a:off x="11567160" y="65721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34" name="Text 4"/>
          <p:cNvSpPr txBox="1"/>
          <p:nvPr/>
        </p:nvSpPr>
        <p:spPr>
          <a:xfrm>
            <a:off x="594359" y="1390410"/>
            <a:ext cx="10972802" cy="55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7CDD9"/>
                </a:solidFill>
              </a:defRPr>
            </a:lvl1pPr>
          </a:lstStyle>
          <a:p>
            <a:pPr/>
            <a:r>
              <a:t>V1's annotations still have to exist for every column, in every table. V2's job is to derive all of them correctly — with no human review, and without breaking referential integrity anywhere in the schema.</a:t>
            </a:r>
          </a:p>
        </p:txBody>
      </p:sp>
      <p:sp>
        <p:nvSpPr>
          <p:cNvPr id="135" name="Shape 5"/>
          <p:cNvSpPr/>
          <p:nvPr/>
        </p:nvSpPr>
        <p:spPr>
          <a:xfrm>
            <a:off x="548640" y="2286000"/>
            <a:ext cx="3547872" cy="3200400"/>
          </a:xfrm>
          <a:prstGeom prst="roundRect">
            <a:avLst>
              <a:gd name="adj" fmla="val 2857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Shape 6"/>
          <p:cNvSpPr/>
          <p:nvPr/>
        </p:nvSpPr>
        <p:spPr>
          <a:xfrm>
            <a:off x="868680" y="2606039"/>
            <a:ext cx="457201" cy="457201"/>
          </a:xfrm>
          <a:prstGeom prst="roundRect">
            <a:avLst>
              <a:gd name="adj" fmla="val 50000"/>
            </a:avLst>
          </a:prstGeom>
          <a:solidFill>
            <a:srgbClr val="56B6C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7"/>
          <p:cNvSpPr txBox="1"/>
          <p:nvPr/>
        </p:nvSpPr>
        <p:spPr>
          <a:xfrm>
            <a:off x="914400" y="2668096"/>
            <a:ext cx="3657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1B1E23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8" name="Text 8"/>
          <p:cNvSpPr txBox="1"/>
          <p:nvPr/>
        </p:nvSpPr>
        <p:spPr>
          <a:xfrm>
            <a:off x="914399" y="3354070"/>
            <a:ext cx="2816354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FK dependency graph</a:t>
            </a:r>
          </a:p>
        </p:txBody>
      </p:sp>
      <p:sp>
        <p:nvSpPr>
          <p:cNvPr id="139" name="Text 9"/>
          <p:cNvSpPr txBox="1"/>
          <p:nvPr/>
        </p:nvSpPr>
        <p:spPr>
          <a:xfrm>
            <a:off x="914399" y="3794759"/>
            <a:ext cx="2816354" cy="960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Builds the full graph across the schema and topologically sorts generation order. Get this wrong and child tables reference parents that don't exist yet.</a:t>
            </a:r>
          </a:p>
        </p:txBody>
      </p:sp>
      <p:sp>
        <p:nvSpPr>
          <p:cNvPr id="140" name="Shape 10"/>
          <p:cNvSpPr/>
          <p:nvPr/>
        </p:nvSpPr>
        <p:spPr>
          <a:xfrm>
            <a:off x="4352544" y="2286000"/>
            <a:ext cx="3547872" cy="3200400"/>
          </a:xfrm>
          <a:prstGeom prst="roundRect">
            <a:avLst>
              <a:gd name="adj" fmla="val 2857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Shape 11"/>
          <p:cNvSpPr/>
          <p:nvPr/>
        </p:nvSpPr>
        <p:spPr>
          <a:xfrm>
            <a:off x="4672584" y="2606039"/>
            <a:ext cx="457201" cy="457201"/>
          </a:xfrm>
          <a:prstGeom prst="roundRect">
            <a:avLst>
              <a:gd name="adj" fmla="val 50000"/>
            </a:avLst>
          </a:prstGeom>
          <a:solidFill>
            <a:srgbClr val="C67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12"/>
          <p:cNvSpPr txBox="1"/>
          <p:nvPr/>
        </p:nvSpPr>
        <p:spPr>
          <a:xfrm>
            <a:off x="4718304" y="2668096"/>
            <a:ext cx="3657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1B1E23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3" name="Text 13"/>
          <p:cNvSpPr txBox="1"/>
          <p:nvPr/>
        </p:nvSpPr>
        <p:spPr>
          <a:xfrm>
            <a:off x="4718304" y="3354070"/>
            <a:ext cx="2816353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Column classification</a:t>
            </a:r>
          </a:p>
        </p:txBody>
      </p:sp>
      <p:sp>
        <p:nvSpPr>
          <p:cNvPr id="144" name="Text 14"/>
          <p:cNvSpPr txBox="1"/>
          <p:nvPr/>
        </p:nvSpPr>
        <p:spPr>
          <a:xfrm>
            <a:off x="4718304" y="3794759"/>
            <a:ext cx="2816353" cy="1198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Every column matched by role, type, cardinality, and histogram shape to one of eleven expression strategies — sequential PK, dense FK, sparse FK, bucket-cycling, and more.</a:t>
            </a:r>
          </a:p>
        </p:txBody>
      </p:sp>
      <p:sp>
        <p:nvSpPr>
          <p:cNvPr id="145" name="Shape 15"/>
          <p:cNvSpPr/>
          <p:nvPr/>
        </p:nvSpPr>
        <p:spPr>
          <a:xfrm>
            <a:off x="8156447" y="2286000"/>
            <a:ext cx="3547873" cy="3200400"/>
          </a:xfrm>
          <a:prstGeom prst="roundRect">
            <a:avLst>
              <a:gd name="adj" fmla="val 2857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16"/>
          <p:cNvSpPr/>
          <p:nvPr/>
        </p:nvSpPr>
        <p:spPr>
          <a:xfrm>
            <a:off x="8476488" y="2606039"/>
            <a:ext cx="457201" cy="457201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17"/>
          <p:cNvSpPr txBox="1"/>
          <p:nvPr/>
        </p:nvSpPr>
        <p:spPr>
          <a:xfrm>
            <a:off x="8522208" y="2668096"/>
            <a:ext cx="3657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1B1E23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8" name="Text 18"/>
          <p:cNvSpPr txBox="1"/>
          <p:nvPr/>
        </p:nvSpPr>
        <p:spPr>
          <a:xfrm>
            <a:off x="8522207" y="3354070"/>
            <a:ext cx="2816354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Three engine adapters</a:t>
            </a:r>
          </a:p>
        </p:txBody>
      </p:sp>
      <p:sp>
        <p:nvSpPr>
          <p:cNvPr id="149" name="Text 19"/>
          <p:cNvSpPr txBox="1"/>
          <p:nvPr/>
        </p:nvSpPr>
        <p:spPr>
          <a:xfrm>
            <a:off x="8522207" y="3794759"/>
            <a:ext cx="2816354" cy="960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MySQL, TiDB, and SingleStore expose catalog metadata, histograms, and statistics in completely different formats. Each needs its own normalization layer.</a:t>
            </a:r>
          </a:p>
        </p:txBody>
      </p:sp>
      <p:sp>
        <p:nvSpPr>
          <p:cNvPr id="150" name="Shape 20"/>
          <p:cNvSpPr/>
          <p:nvPr/>
        </p:nvSpPr>
        <p:spPr>
          <a:xfrm>
            <a:off x="548640" y="5715000"/>
            <a:ext cx="11091672" cy="640081"/>
          </a:xfrm>
          <a:prstGeom prst="roundRect">
            <a:avLst>
              <a:gd name="adj" fmla="val 14286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21"/>
          <p:cNvSpPr txBox="1"/>
          <p:nvPr/>
        </p:nvSpPr>
        <p:spPr>
          <a:xfrm>
            <a:off x="914400" y="5905939"/>
            <a:ext cx="1033272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300">
                <a:solidFill>
                  <a:srgbClr val="E5C07B"/>
                </a:solidFill>
              </a:defRPr>
            </a:pPr>
            <a:r>
              <a:t>~5 seconds </a:t>
            </a:r>
            <a:r>
              <a:rPr b="0">
                <a:solidFill>
                  <a:srgbClr val="C7CDD9"/>
                </a:solidFill>
              </a:rPr>
              <a:t>to generate a full 24-table schema — but only because all three of the above run automatically, correctly, every time.</a:t>
            </a:r>
          </a:p>
        </p:txBody>
      </p:sp>
      <p:pic>
        <p:nvPicPr>
          <p:cNvPr id="15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157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 three-level pipeline — inspectable at every stage</a:t>
            </a:r>
          </a:p>
        </p:txBody>
      </p:sp>
      <p:sp>
        <p:nvSpPr>
          <p:cNvPr id="158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159" name="Text 3"/>
          <p:cNvSpPr txBox="1"/>
          <p:nvPr/>
        </p:nvSpPr>
        <p:spPr>
          <a:xfrm>
            <a:off x="11567160" y="65721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0" name="Text 4"/>
          <p:cNvSpPr txBox="1"/>
          <p:nvPr/>
        </p:nvSpPr>
        <p:spPr>
          <a:xfrm>
            <a:off x="594360" y="1297363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pc="120" sz="1300">
                <a:solidFill>
                  <a:srgbClr val="56B6C2"/>
                </a:solidFill>
              </a:defRPr>
            </a:pPr>
            <a:r>
              <a:t>LEVEL 1 · METADATA EXTRACTION</a:t>
            </a:r>
            <a:r>
              <a:rPr b="0" i="1">
                <a:solidFill>
                  <a:srgbClr val="8891A0"/>
                </a:solidFill>
              </a:rPr>
              <a:t>   editable</a:t>
            </a:r>
          </a:p>
        </p:txBody>
      </p:sp>
      <p:sp>
        <p:nvSpPr>
          <p:cNvPr id="161" name="Shape 5"/>
          <p:cNvSpPr/>
          <p:nvPr/>
        </p:nvSpPr>
        <p:spPr>
          <a:xfrm>
            <a:off x="2208276" y="1691639"/>
            <a:ext cx="2377441" cy="548641"/>
          </a:xfrm>
          <a:prstGeom prst="roundRect">
            <a:avLst>
              <a:gd name="adj" fmla="val 16667"/>
            </a:avLst>
          </a:prstGeom>
          <a:solidFill>
            <a:srgbClr val="2B303A"/>
          </a:solidFill>
          <a:ln w="15875">
            <a:solidFill>
              <a:srgbClr val="56B6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6"/>
          <p:cNvSpPr txBox="1"/>
          <p:nvPr/>
        </p:nvSpPr>
        <p:spPr>
          <a:xfrm>
            <a:off x="2253996" y="1812289"/>
            <a:ext cx="22860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56B6C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MySQL</a:t>
            </a:r>
          </a:p>
        </p:txBody>
      </p:sp>
      <p:sp>
        <p:nvSpPr>
          <p:cNvPr id="163" name="Shape 7"/>
          <p:cNvSpPr/>
          <p:nvPr/>
        </p:nvSpPr>
        <p:spPr>
          <a:xfrm>
            <a:off x="4905755" y="1691639"/>
            <a:ext cx="2377441" cy="548641"/>
          </a:xfrm>
          <a:prstGeom prst="roundRect">
            <a:avLst>
              <a:gd name="adj" fmla="val 16667"/>
            </a:avLst>
          </a:prstGeom>
          <a:solidFill>
            <a:srgbClr val="2B303A"/>
          </a:solidFill>
          <a:ln w="15875">
            <a:solidFill>
              <a:srgbClr val="56B6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8"/>
          <p:cNvSpPr txBox="1"/>
          <p:nvPr/>
        </p:nvSpPr>
        <p:spPr>
          <a:xfrm>
            <a:off x="4951476" y="1812289"/>
            <a:ext cx="228600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56B6C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TiDB</a:t>
            </a:r>
          </a:p>
        </p:txBody>
      </p:sp>
      <p:sp>
        <p:nvSpPr>
          <p:cNvPr id="165" name="Shape 9"/>
          <p:cNvSpPr/>
          <p:nvPr/>
        </p:nvSpPr>
        <p:spPr>
          <a:xfrm>
            <a:off x="7603235" y="1691639"/>
            <a:ext cx="2377441" cy="548641"/>
          </a:xfrm>
          <a:prstGeom prst="roundRect">
            <a:avLst>
              <a:gd name="adj" fmla="val 16667"/>
            </a:avLst>
          </a:prstGeom>
          <a:solidFill>
            <a:srgbClr val="2B303A"/>
          </a:solidFill>
          <a:ln w="15875">
            <a:solidFill>
              <a:srgbClr val="56B6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0"/>
          <p:cNvSpPr txBox="1"/>
          <p:nvPr/>
        </p:nvSpPr>
        <p:spPr>
          <a:xfrm>
            <a:off x="7648955" y="1812289"/>
            <a:ext cx="22860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56B6C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SingleStore</a:t>
            </a:r>
          </a:p>
        </p:txBody>
      </p:sp>
      <p:sp>
        <p:nvSpPr>
          <p:cNvPr id="167" name="Shape 11"/>
          <p:cNvSpPr/>
          <p:nvPr/>
        </p:nvSpPr>
        <p:spPr>
          <a:xfrm>
            <a:off x="6094476" y="2295144"/>
            <a:ext cx="1" cy="201169"/>
          </a:xfrm>
          <a:prstGeom prst="line">
            <a:avLst/>
          </a:prstGeom>
          <a:ln w="31750">
            <a:solidFill>
              <a:srgbClr val="3A3F4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Shape 12"/>
          <p:cNvSpPr/>
          <p:nvPr/>
        </p:nvSpPr>
        <p:spPr>
          <a:xfrm>
            <a:off x="1280160" y="2551176"/>
            <a:ext cx="9628632" cy="777241"/>
          </a:xfrm>
          <a:prstGeom prst="roundRect">
            <a:avLst>
              <a:gd name="adj" fmla="val 11765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13"/>
          <p:cNvSpPr txBox="1"/>
          <p:nvPr/>
        </p:nvSpPr>
        <p:spPr>
          <a:xfrm>
            <a:off x="1691640" y="2671064"/>
            <a:ext cx="8805673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7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Normalized Statistics Structure</a:t>
            </a:r>
          </a:p>
        </p:txBody>
      </p:sp>
      <p:sp>
        <p:nvSpPr>
          <p:cNvPr id="170" name="Text 14"/>
          <p:cNvSpPr txBox="1"/>
          <p:nvPr/>
        </p:nvSpPr>
        <p:spPr>
          <a:xfrm>
            <a:off x="1691640" y="3020060"/>
            <a:ext cx="880567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91A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schema DDL  ·  row counts  ·  distinct counts  ·  histograms  ·  FK graph</a:t>
            </a:r>
          </a:p>
        </p:txBody>
      </p:sp>
      <p:sp>
        <p:nvSpPr>
          <p:cNvPr id="171" name="Shape 15"/>
          <p:cNvSpPr/>
          <p:nvPr/>
        </p:nvSpPr>
        <p:spPr>
          <a:xfrm>
            <a:off x="6094476" y="3383279"/>
            <a:ext cx="1" cy="219457"/>
          </a:xfrm>
          <a:prstGeom prst="line">
            <a:avLst/>
          </a:prstGeom>
          <a:ln w="31750">
            <a:solidFill>
              <a:srgbClr val="3A3F4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6"/>
          <p:cNvSpPr txBox="1"/>
          <p:nvPr/>
        </p:nvSpPr>
        <p:spPr>
          <a:xfrm>
            <a:off x="594360" y="3711379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pc="120" sz="1300">
                <a:solidFill>
                  <a:srgbClr val="C678DD"/>
                </a:solidFill>
              </a:defRPr>
            </a:pPr>
            <a:r>
              <a:t>LEVEL 2 · TEMPLATE GENERATION</a:t>
            </a:r>
            <a:r>
              <a:rPr b="0" i="1">
                <a:solidFill>
                  <a:srgbClr val="8891A0"/>
                </a:solidFill>
              </a:rPr>
              <a:t>   editable</a:t>
            </a:r>
          </a:p>
        </p:txBody>
      </p:sp>
      <p:sp>
        <p:nvSpPr>
          <p:cNvPr id="173" name="Shape 17"/>
          <p:cNvSpPr/>
          <p:nvPr/>
        </p:nvSpPr>
        <p:spPr>
          <a:xfrm>
            <a:off x="548640" y="4078223"/>
            <a:ext cx="2430018" cy="868681"/>
          </a:xfrm>
          <a:prstGeom prst="roundRect">
            <a:avLst>
              <a:gd name="adj" fmla="val 10526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18"/>
          <p:cNvSpPr txBox="1"/>
          <p:nvPr/>
        </p:nvSpPr>
        <p:spPr>
          <a:xfrm>
            <a:off x="685800" y="4243662"/>
            <a:ext cx="2155699" cy="537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15000"/>
              </a:lnSpc>
              <a:defRPr b="1" sz="1400">
                <a:solidFill>
                  <a:srgbClr val="F2F4F8"/>
                </a:solidFill>
              </a:defRPr>
            </a:pPr>
            <a:r>
              <a:t>FK Graph</a:t>
            </a:r>
          </a:p>
          <a:p>
            <a:pPr algn="ctr">
              <a:lnSpc>
                <a:spcPct val="115000"/>
              </a:lnSpc>
              <a:defRPr b="1" sz="1400">
                <a:solidFill>
                  <a:srgbClr val="F2F4F8"/>
                </a:solidFill>
              </a:defRPr>
            </a:pPr>
            <a:r>
              <a:t>&amp; Order</a:t>
            </a:r>
          </a:p>
        </p:txBody>
      </p:sp>
      <p:sp>
        <p:nvSpPr>
          <p:cNvPr id="175" name="Shape 19"/>
          <p:cNvSpPr/>
          <p:nvPr/>
        </p:nvSpPr>
        <p:spPr>
          <a:xfrm>
            <a:off x="3033522" y="4512564"/>
            <a:ext cx="347473" cy="1"/>
          </a:xfrm>
          <a:prstGeom prst="line">
            <a:avLst/>
          </a:prstGeom>
          <a:ln w="31750">
            <a:solidFill>
              <a:srgbClr val="3A3F4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Shape 20"/>
          <p:cNvSpPr/>
          <p:nvPr/>
        </p:nvSpPr>
        <p:spPr>
          <a:xfrm>
            <a:off x="3435858" y="4078223"/>
            <a:ext cx="2430019" cy="868681"/>
          </a:xfrm>
          <a:prstGeom prst="roundRect">
            <a:avLst>
              <a:gd name="adj" fmla="val 10526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21"/>
          <p:cNvSpPr txBox="1"/>
          <p:nvPr/>
        </p:nvSpPr>
        <p:spPr>
          <a:xfrm>
            <a:off x="3573017" y="4243662"/>
            <a:ext cx="2155699" cy="537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15000"/>
              </a:lnSpc>
              <a:defRPr b="1" sz="1400">
                <a:solidFill>
                  <a:srgbClr val="F2F4F8"/>
                </a:solidFill>
              </a:defRPr>
            </a:pPr>
            <a:r>
              <a:t>Column</a:t>
            </a:r>
          </a:p>
          <a:p>
            <a:pPr algn="ctr">
              <a:lnSpc>
                <a:spcPct val="115000"/>
              </a:lnSpc>
              <a:defRPr b="1" sz="1400">
                <a:solidFill>
                  <a:srgbClr val="F2F4F8"/>
                </a:solidFill>
              </a:defRPr>
            </a:pPr>
            <a:r>
              <a:t>Classification</a:t>
            </a:r>
          </a:p>
        </p:txBody>
      </p:sp>
      <p:sp>
        <p:nvSpPr>
          <p:cNvPr id="178" name="Shape 22"/>
          <p:cNvSpPr/>
          <p:nvPr/>
        </p:nvSpPr>
        <p:spPr>
          <a:xfrm>
            <a:off x="5920740" y="4512564"/>
            <a:ext cx="347473" cy="1"/>
          </a:xfrm>
          <a:prstGeom prst="line">
            <a:avLst/>
          </a:prstGeom>
          <a:ln w="31750">
            <a:solidFill>
              <a:srgbClr val="3A3F4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Shape 23"/>
          <p:cNvSpPr/>
          <p:nvPr/>
        </p:nvSpPr>
        <p:spPr>
          <a:xfrm>
            <a:off x="6323076" y="4078223"/>
            <a:ext cx="2430019" cy="868681"/>
          </a:xfrm>
          <a:prstGeom prst="roundRect">
            <a:avLst>
              <a:gd name="adj" fmla="val 10526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24"/>
          <p:cNvSpPr txBox="1"/>
          <p:nvPr/>
        </p:nvSpPr>
        <p:spPr>
          <a:xfrm>
            <a:off x="6460235" y="4243662"/>
            <a:ext cx="2155699" cy="537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15000"/>
              </a:lnSpc>
              <a:defRPr b="1" sz="1400">
                <a:solidFill>
                  <a:srgbClr val="F2F4F8"/>
                </a:solidFill>
              </a:defRPr>
            </a:pPr>
            <a:r>
              <a:t>Privacy-Safe</a:t>
            </a:r>
          </a:p>
          <a:p>
            <a:pPr algn="ctr">
              <a:lnSpc>
                <a:spcPct val="115000"/>
              </a:lnSpc>
              <a:defRPr b="1" sz="1400">
                <a:solidFill>
                  <a:srgbClr val="F2F4F8"/>
                </a:solidFill>
              </a:defRPr>
            </a:pPr>
            <a:r>
              <a:t>Expressions</a:t>
            </a:r>
          </a:p>
        </p:txBody>
      </p:sp>
      <p:sp>
        <p:nvSpPr>
          <p:cNvPr id="181" name="Shape 25"/>
          <p:cNvSpPr/>
          <p:nvPr/>
        </p:nvSpPr>
        <p:spPr>
          <a:xfrm>
            <a:off x="8807957" y="4512564"/>
            <a:ext cx="347473" cy="1"/>
          </a:xfrm>
          <a:prstGeom prst="line">
            <a:avLst/>
          </a:prstGeom>
          <a:ln w="31750">
            <a:solidFill>
              <a:srgbClr val="3A3F4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Shape 26"/>
          <p:cNvSpPr/>
          <p:nvPr/>
        </p:nvSpPr>
        <p:spPr>
          <a:xfrm>
            <a:off x="9210293" y="4078223"/>
            <a:ext cx="2430019" cy="868681"/>
          </a:xfrm>
          <a:prstGeom prst="roundRect">
            <a:avLst>
              <a:gd name="adj" fmla="val 10526"/>
            </a:avLst>
          </a:prstGeom>
          <a:solidFill>
            <a:srgbClr val="2B303A"/>
          </a:solidFill>
          <a:ln w="19050">
            <a:solidFill>
              <a:srgbClr val="E5C07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27"/>
          <p:cNvSpPr txBox="1"/>
          <p:nvPr/>
        </p:nvSpPr>
        <p:spPr>
          <a:xfrm>
            <a:off x="9347453" y="4243662"/>
            <a:ext cx="2155699" cy="537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15000"/>
              </a:lnSpc>
              <a:defRPr b="1" sz="1400">
                <a:solidFill>
                  <a:srgbClr val="E5C07B"/>
                </a:solidFill>
              </a:defRPr>
            </a:pPr>
            <a:r>
              <a:t>Annotated</a:t>
            </a:r>
          </a:p>
          <a:p>
            <a:pPr algn="ctr">
              <a:lnSpc>
                <a:spcPct val="115000"/>
              </a:lnSpc>
              <a:defRPr b="1" sz="1400">
                <a:solidFill>
                  <a:srgbClr val="E5C07B"/>
                </a:solidFill>
              </a:defRPr>
            </a:pPr>
            <a:r>
              <a:t>DDL</a:t>
            </a:r>
          </a:p>
        </p:txBody>
      </p:sp>
      <p:sp>
        <p:nvSpPr>
          <p:cNvPr id="184" name="Shape 28"/>
          <p:cNvSpPr/>
          <p:nvPr/>
        </p:nvSpPr>
        <p:spPr>
          <a:xfrm>
            <a:off x="6094476" y="5001767"/>
            <a:ext cx="1" cy="219457"/>
          </a:xfrm>
          <a:prstGeom prst="line">
            <a:avLst/>
          </a:prstGeom>
          <a:ln w="31750">
            <a:solidFill>
              <a:srgbClr val="3A3F4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29"/>
          <p:cNvSpPr txBox="1"/>
          <p:nvPr/>
        </p:nvSpPr>
        <p:spPr>
          <a:xfrm>
            <a:off x="594360" y="5329867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20" sz="1300">
                <a:solidFill>
                  <a:srgbClr val="E5C07B"/>
                </a:solidFill>
              </a:defRPr>
            </a:lvl1pPr>
          </a:lstStyle>
          <a:p>
            <a:pPr/>
            <a:r>
              <a:t>LEVEL 3 · DATA GENERATION</a:t>
            </a:r>
          </a:p>
        </p:txBody>
      </p:sp>
      <p:sp>
        <p:nvSpPr>
          <p:cNvPr id="186" name="Shape 30"/>
          <p:cNvSpPr/>
          <p:nvPr/>
        </p:nvSpPr>
        <p:spPr>
          <a:xfrm>
            <a:off x="699516" y="5696711"/>
            <a:ext cx="3383280" cy="685801"/>
          </a:xfrm>
          <a:prstGeom prst="roundRect">
            <a:avLst>
              <a:gd name="adj" fmla="val 13333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31"/>
          <p:cNvSpPr txBox="1"/>
          <p:nvPr/>
        </p:nvSpPr>
        <p:spPr>
          <a:xfrm>
            <a:off x="745236" y="5899212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2F4F8"/>
                </a:solidFill>
              </a:defRPr>
            </a:lvl1pPr>
          </a:lstStyle>
          <a:p>
            <a:pPr/>
            <a:r>
              <a:t>Annotated DDL</a:t>
            </a:r>
          </a:p>
        </p:txBody>
      </p:sp>
      <p:sp>
        <p:nvSpPr>
          <p:cNvPr id="188" name="Shape 32"/>
          <p:cNvSpPr/>
          <p:nvPr/>
        </p:nvSpPr>
        <p:spPr>
          <a:xfrm>
            <a:off x="4119371" y="6039611"/>
            <a:ext cx="246889" cy="1"/>
          </a:xfrm>
          <a:prstGeom prst="line">
            <a:avLst/>
          </a:prstGeom>
          <a:ln w="31750">
            <a:solidFill>
              <a:srgbClr val="3A3F4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Shape 33"/>
          <p:cNvSpPr/>
          <p:nvPr/>
        </p:nvSpPr>
        <p:spPr>
          <a:xfrm>
            <a:off x="4402835" y="5696711"/>
            <a:ext cx="3383281" cy="685801"/>
          </a:xfrm>
          <a:prstGeom prst="roundRect">
            <a:avLst>
              <a:gd name="adj" fmla="val 13333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34"/>
          <p:cNvSpPr txBox="1"/>
          <p:nvPr/>
        </p:nvSpPr>
        <p:spPr>
          <a:xfrm>
            <a:off x="4448555" y="5899212"/>
            <a:ext cx="329184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2F4F8"/>
                </a:solidFill>
              </a:defRPr>
            </a:lvl1pPr>
          </a:lstStyle>
          <a:p>
            <a:pPr/>
            <a:r>
              <a:t>DataGenX V1 binary</a:t>
            </a:r>
          </a:p>
        </p:txBody>
      </p:sp>
      <p:sp>
        <p:nvSpPr>
          <p:cNvPr id="191" name="Shape 35"/>
          <p:cNvSpPr/>
          <p:nvPr/>
        </p:nvSpPr>
        <p:spPr>
          <a:xfrm>
            <a:off x="7822692" y="6039611"/>
            <a:ext cx="246889" cy="1"/>
          </a:xfrm>
          <a:prstGeom prst="line">
            <a:avLst/>
          </a:prstGeom>
          <a:ln w="31750">
            <a:solidFill>
              <a:srgbClr val="3A3F4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Shape 36"/>
          <p:cNvSpPr/>
          <p:nvPr/>
        </p:nvSpPr>
        <p:spPr>
          <a:xfrm>
            <a:off x="8106156" y="5696711"/>
            <a:ext cx="3383281" cy="685801"/>
          </a:xfrm>
          <a:prstGeom prst="roundRect">
            <a:avLst>
              <a:gd name="adj" fmla="val 13333"/>
            </a:avLst>
          </a:prstGeom>
          <a:solidFill>
            <a:srgbClr val="2B303A"/>
          </a:solidFill>
          <a:ln w="19050">
            <a:solidFill>
              <a:srgbClr val="27C9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37"/>
          <p:cNvSpPr txBox="1"/>
          <p:nvPr/>
        </p:nvSpPr>
        <p:spPr>
          <a:xfrm>
            <a:off x="8151876" y="5899212"/>
            <a:ext cx="329184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27C93F"/>
                </a:solidFill>
              </a:defRPr>
            </a:lvl1pPr>
          </a:lstStyle>
          <a:p>
            <a:pPr/>
            <a:r>
              <a:t>CSV Output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IN PRACTICE</a:t>
            </a:r>
          </a:p>
        </p:txBody>
      </p:sp>
      <p:sp>
        <p:nvSpPr>
          <p:cNvPr id="198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TPC-H orders — from statistics to template</a:t>
            </a:r>
          </a:p>
        </p:txBody>
      </p:sp>
      <p:sp>
        <p:nvSpPr>
          <p:cNvPr id="199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200" name="Text 3"/>
          <p:cNvSpPr txBox="1"/>
          <p:nvPr/>
        </p:nvSpPr>
        <p:spPr>
          <a:xfrm>
            <a:off x="11567160" y="65721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01" name="Shape 4"/>
          <p:cNvSpPr/>
          <p:nvPr/>
        </p:nvSpPr>
        <p:spPr>
          <a:xfrm>
            <a:off x="548640" y="1417319"/>
            <a:ext cx="11091672" cy="4251961"/>
          </a:xfrm>
          <a:prstGeom prst="roundRect">
            <a:avLst>
              <a:gd name="adj" fmla="val 2151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Shape 5"/>
          <p:cNvSpPr/>
          <p:nvPr/>
        </p:nvSpPr>
        <p:spPr>
          <a:xfrm>
            <a:off x="548640" y="1417319"/>
            <a:ext cx="11091672" cy="4251961"/>
          </a:xfrm>
          <a:prstGeom prst="roundRect">
            <a:avLst>
              <a:gd name="adj" fmla="val 2581"/>
            </a:avLst>
          </a:prstGeom>
          <a:solidFill>
            <a:srgbClr val="242830"/>
          </a:solidFill>
          <a:ln w="12700">
            <a:miter lim="400000"/>
          </a:ln>
          <a:effectLst>
            <a:outerShdw sx="100000" sy="100000" kx="0" ky="0" algn="b" rotWithShape="0" blurRad="152400" dist="50800" dir="5400000">
              <a:srgbClr val="000000">
                <a:alpha val="4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" name="Shape 6"/>
          <p:cNvSpPr/>
          <p:nvPr/>
        </p:nvSpPr>
        <p:spPr>
          <a:xfrm>
            <a:off x="868680" y="1691639"/>
            <a:ext cx="128017" cy="128017"/>
          </a:xfrm>
          <a:prstGeom prst="ellipse">
            <a:avLst/>
          </a:prstGeom>
          <a:solidFill>
            <a:srgbClr val="FF5F5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Shape 7"/>
          <p:cNvSpPr/>
          <p:nvPr/>
        </p:nvSpPr>
        <p:spPr>
          <a:xfrm>
            <a:off x="1078991" y="1691639"/>
            <a:ext cx="128017" cy="128017"/>
          </a:xfrm>
          <a:prstGeom prst="ellipse">
            <a:avLst/>
          </a:prstGeom>
          <a:solidFill>
            <a:srgbClr val="FFBD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Shape 8"/>
          <p:cNvSpPr/>
          <p:nvPr/>
        </p:nvSpPr>
        <p:spPr>
          <a:xfrm>
            <a:off x="1289303" y="1691639"/>
            <a:ext cx="128017" cy="128017"/>
          </a:xfrm>
          <a:prstGeom prst="ellipse">
            <a:avLst/>
          </a:prstGeom>
          <a:solidFill>
            <a:srgbClr val="27C93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9"/>
          <p:cNvSpPr txBox="1"/>
          <p:nvPr/>
        </p:nvSpPr>
        <p:spPr>
          <a:xfrm>
            <a:off x="960119" y="2011679"/>
            <a:ext cx="10268713" cy="2338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CREATE</a:t>
            </a:r>
            <a:r>
              <a:rPr>
                <a:solidFill>
                  <a:srgbClr val="ABB2BF"/>
                </a:solidFill>
              </a:rPr>
              <a:t> </a:t>
            </a:r>
            <a:r>
              <a:t>TABLE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E5C07B"/>
                </a:solidFill>
              </a:rPr>
              <a:t>`orders`</a:t>
            </a:r>
            <a:r>
              <a:rPr>
                <a:solidFill>
                  <a:srgbClr val="ABB2BF"/>
                </a:solidFill>
              </a:rPr>
              <a:t> (</a:t>
            </a:r>
          </a:p>
          <a:p>
            <a:pPr>
              <a:lnSpc>
                <a:spcPct val="135000"/>
              </a:lnSpc>
              <a:defRPr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`o_orderkey`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56B6C2"/>
                </a:solidFill>
              </a:rPr>
              <a:t>int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C678DD"/>
                </a:solidFill>
              </a:rPr>
              <a:t>NOT NULL</a:t>
            </a:r>
            <a:r>
              <a:rPr>
                <a:solidFill>
                  <a:srgbClr val="ABB2BF"/>
                </a:solidFill>
              </a:rPr>
              <a:t> </a:t>
            </a:r>
            <a:r>
              <a:rPr i="1">
                <a:solidFill>
                  <a:srgbClr val="7F8A9C"/>
                </a:solidFill>
              </a:rPr>
              <a:t>/*{{ @o_orderkey := rownum }}*/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lnSpc>
                <a:spcPct val="135000"/>
              </a:lnSpc>
              <a:defRPr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`o_custkey`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56B6C2"/>
                </a:solidFill>
              </a:rPr>
              <a:t>int</a:t>
            </a:r>
            <a:r>
              <a:rPr>
                <a:solidFill>
                  <a:srgbClr val="ABB2BF"/>
                </a:solidFill>
              </a:rPr>
              <a:t> </a:t>
            </a:r>
            <a:r>
              <a:rPr i="1">
                <a:solidFill>
                  <a:srgbClr val="7F8A9C"/>
                </a:solidFill>
              </a:rPr>
              <a:t>/*{{ @o_custkey := rand.range(1, 150001) }}*/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lnSpc>
                <a:spcPct val="135000"/>
              </a:lnSpc>
              <a:defRPr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`o_orderdate`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56B6C2"/>
                </a:solidFill>
              </a:rPr>
              <a:t>date</a:t>
            </a:r>
            <a:r>
              <a:rPr>
                <a:solidFill>
                  <a:srgbClr val="ABB2BF"/>
                </a:solidFill>
              </a:rPr>
              <a:t> </a:t>
            </a:r>
            <a:r>
              <a:rPr i="1">
                <a:solidFill>
                  <a:srgbClr val="7F8A9C"/>
                </a:solidFill>
              </a:rPr>
              <a:t>/*{{ @o_orderdate := TIMESTAMP '2000-01-01' + INTERVAL rand.range(0, 2557) DAY }}*/</a:t>
            </a:r>
            <a:r>
              <a:rPr>
                <a:solidFill>
                  <a:srgbClr val="ABB2BF"/>
                </a:solidFill>
              </a:rPr>
              <a:t>,</a:t>
            </a:r>
          </a:p>
          <a:p>
            <a:pPr>
              <a:lnSpc>
                <a:spcPct val="135000"/>
              </a:lnSpc>
              <a:defRPr sz="1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`o_totalprice`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56B6C2"/>
                </a:solidFill>
              </a:rPr>
              <a:t>decimal(15,2)</a:t>
            </a:r>
            <a:r>
              <a:rPr>
                <a:solidFill>
                  <a:srgbClr val="ABB2BF"/>
                </a:solidFill>
              </a:rPr>
              <a:t> </a:t>
            </a:r>
            <a:r>
              <a:rPr i="1">
                <a:solidFill>
                  <a:srgbClr val="7F8A9C"/>
                </a:solidFill>
              </a:rPr>
              <a:t>/*{{ @o_totalprice :=</a:t>
            </a:r>
          </a:p>
          <a:p>
            <a:pPr>
              <a:lnSpc>
                <a:spcPct val="135000"/>
              </a:lnSpc>
              <a:defRPr i="1" sz="1200">
                <a:solidFill>
                  <a:srgbClr val="7F8A9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case mod(rownum-1, 100) + 1</a:t>
            </a:r>
          </a:p>
          <a:p>
            <a:pPr>
              <a:lnSpc>
                <a:spcPct val="135000"/>
              </a:lnSpc>
              <a:defRPr i="1" sz="1200">
                <a:solidFill>
                  <a:srgbClr val="7F8A9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when 1 then mod(div(rownum-1,100), 87) + 857  ...  end }}*/</a:t>
            </a:r>
            <a:r>
              <a:rPr i="0">
                <a:solidFill>
                  <a:srgbClr val="ABB2BF"/>
                </a:solidFill>
              </a:rPr>
              <a:t>,</a:t>
            </a:r>
          </a:p>
          <a:p>
            <a:pPr>
              <a:lnSpc>
                <a:spcPct val="135000"/>
              </a:lnSpc>
              <a:defRPr sz="12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PRIMARY KEY</a:t>
            </a:r>
            <a:r>
              <a:rPr>
                <a:solidFill>
                  <a:srgbClr val="ABB2BF"/>
                </a:solidFill>
              </a:rPr>
              <a:t> (</a:t>
            </a:r>
            <a:r>
              <a:rPr>
                <a:solidFill>
                  <a:srgbClr val="E5C07B"/>
                </a:solidFill>
              </a:rPr>
              <a:t>`o_orderkey`</a:t>
            </a:r>
            <a:r>
              <a:rPr>
                <a:solidFill>
                  <a:srgbClr val="ABB2BF"/>
                </a:solidFill>
              </a:rPr>
              <a:t>),</a:t>
            </a:r>
          </a:p>
          <a:p>
            <a:pPr>
              <a:lnSpc>
                <a:spcPct val="135000"/>
              </a:lnSpc>
              <a:defRPr sz="1200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FOREIGN KEY</a:t>
            </a:r>
            <a:r>
              <a:rPr>
                <a:solidFill>
                  <a:srgbClr val="ABB2BF"/>
                </a:solidFill>
              </a:rPr>
              <a:t> (</a:t>
            </a:r>
            <a:r>
              <a:rPr>
                <a:solidFill>
                  <a:srgbClr val="E5C07B"/>
                </a:solidFill>
              </a:rPr>
              <a:t>`o_custkey`</a:t>
            </a:r>
            <a:r>
              <a:rPr>
                <a:solidFill>
                  <a:srgbClr val="ABB2BF"/>
                </a:solidFill>
              </a:rPr>
              <a:t>) </a:t>
            </a:r>
            <a:r>
              <a:t>REFERENCES</a:t>
            </a:r>
            <a:r>
              <a:rPr>
                <a:solidFill>
                  <a:srgbClr val="ABB2BF"/>
                </a:solidFill>
              </a:rPr>
              <a:t> </a:t>
            </a:r>
            <a:r>
              <a:rPr>
                <a:solidFill>
                  <a:srgbClr val="E5C07B"/>
                </a:solidFill>
              </a:rPr>
              <a:t>`customer`</a:t>
            </a:r>
            <a:r>
              <a:rPr>
                <a:solidFill>
                  <a:srgbClr val="ABB2BF"/>
                </a:solidFill>
              </a:rPr>
              <a:t> (</a:t>
            </a:r>
            <a:r>
              <a:rPr>
                <a:solidFill>
                  <a:srgbClr val="E5C07B"/>
                </a:solidFill>
              </a:rPr>
              <a:t>`c_custkey`</a:t>
            </a:r>
            <a:r>
              <a:rPr>
                <a:solidFill>
                  <a:srgbClr val="ABB2BF"/>
                </a:solidFill>
              </a:rPr>
              <a:t>)</a:t>
            </a:r>
          </a:p>
          <a:p>
            <a:pPr>
              <a:lnSpc>
                <a:spcPct val="135000"/>
              </a:lnSpc>
              <a:defRPr sz="1200">
                <a:solidFill>
                  <a:srgbClr val="ABB2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</p:txBody>
      </p:sp>
      <p:sp>
        <p:nvSpPr>
          <p:cNvPr id="207" name="Text 10"/>
          <p:cNvSpPr txBox="1"/>
          <p:nvPr/>
        </p:nvSpPr>
        <p:spPr>
          <a:xfrm>
            <a:off x="594360" y="5922186"/>
            <a:ext cx="1100023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8891A0"/>
                </a:solidFill>
              </a:defRPr>
            </a:lvl1pPr>
          </a:lstStyle>
          <a:p>
            <a:pPr/>
            <a:r>
              <a:t>o_orderkey → sequential PK  ·  o_custkey → dense FK, uniform range  ·  o_orderdate → synthetic base + span  ·  o_totalprice → bucket-cycling from the equi-height histogram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PRIVACY</a:t>
            </a:r>
          </a:p>
        </p:txBody>
      </p:sp>
      <p:sp>
        <p:nvSpPr>
          <p:cNvPr id="212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What goes in, and what never does</a:t>
            </a:r>
          </a:p>
        </p:txBody>
      </p:sp>
      <p:sp>
        <p:nvSpPr>
          <p:cNvPr id="213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214" name="Text 3"/>
          <p:cNvSpPr txBox="1"/>
          <p:nvPr/>
        </p:nvSpPr>
        <p:spPr>
          <a:xfrm>
            <a:off x="11567160" y="65721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15" name="Shape 4"/>
          <p:cNvSpPr/>
          <p:nvPr/>
        </p:nvSpPr>
        <p:spPr>
          <a:xfrm>
            <a:off x="548640" y="1508760"/>
            <a:ext cx="5394960" cy="3520441"/>
          </a:xfrm>
          <a:prstGeom prst="roundRect">
            <a:avLst>
              <a:gd name="adj" fmla="val 2597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5"/>
          <p:cNvSpPr txBox="1"/>
          <p:nvPr/>
        </p:nvSpPr>
        <p:spPr>
          <a:xfrm>
            <a:off x="960119" y="1809749"/>
            <a:ext cx="457200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E06C7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Never copied</a:t>
            </a:r>
          </a:p>
        </p:txBody>
      </p:sp>
      <p:sp>
        <p:nvSpPr>
          <p:cNvPr id="217" name="Text 6"/>
          <p:cNvSpPr txBox="1"/>
          <p:nvPr/>
        </p:nvSpPr>
        <p:spPr>
          <a:xfrm>
            <a:off x="914399" y="2331720"/>
            <a:ext cx="4663442" cy="1725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Bef>
                <a:spcPts val="1000"/>
              </a:spcBef>
              <a:buSzPct val="100000"/>
              <a:buChar char="•"/>
              <a:defRPr sz="1400">
                <a:solidFill>
                  <a:srgbClr val="C7CDD9"/>
                </a:solidFill>
              </a:defRPr>
            </a:pPr>
            <a:r>
              <a:t>Histogram boundaries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SzPct val="100000"/>
              <a:buChar char="•"/>
              <a:defRPr sz="1400">
                <a:solidFill>
                  <a:srgbClr val="C7CDD9"/>
                </a:solidFill>
              </a:defRPr>
            </a:pPr>
            <a:r>
              <a:t>Min / max literals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SzPct val="100000"/>
              <a:buChar char="•"/>
              <a:defRPr sz="1400">
                <a:solidFill>
                  <a:srgbClr val="C7CDD9"/>
                </a:solidFill>
              </a:defRPr>
            </a:pPr>
            <a:r>
              <a:t>Date ranges and endpoints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SzPct val="100000"/>
              <a:buChar char="•"/>
              <a:defRPr sz="1400">
                <a:solidFill>
                  <a:srgbClr val="C7CDD9"/>
                </a:solidFill>
              </a:defRPr>
            </a:pPr>
            <a:r>
              <a:t>Top-N strings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SzPct val="100000"/>
              <a:buChar char="•"/>
              <a:defRPr sz="1400">
                <a:solidFill>
                  <a:srgbClr val="C7CDD9"/>
                </a:solidFill>
              </a:defRPr>
            </a:pPr>
            <a:r>
              <a:t>Source rows themselves</a:t>
            </a:r>
          </a:p>
        </p:txBody>
      </p:sp>
      <p:sp>
        <p:nvSpPr>
          <p:cNvPr id="218" name="Shape 7"/>
          <p:cNvSpPr/>
          <p:nvPr/>
        </p:nvSpPr>
        <p:spPr>
          <a:xfrm>
            <a:off x="6245352" y="1508760"/>
            <a:ext cx="5394960" cy="3520441"/>
          </a:xfrm>
          <a:prstGeom prst="roundRect">
            <a:avLst>
              <a:gd name="adj" fmla="val 2597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8"/>
          <p:cNvSpPr txBox="1"/>
          <p:nvPr/>
        </p:nvSpPr>
        <p:spPr>
          <a:xfrm>
            <a:off x="6656831" y="1809749"/>
            <a:ext cx="457200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27C93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Always preserved</a:t>
            </a:r>
          </a:p>
        </p:txBody>
      </p:sp>
      <p:sp>
        <p:nvSpPr>
          <p:cNvPr id="220" name="Text 9"/>
          <p:cNvSpPr txBox="1"/>
          <p:nvPr/>
        </p:nvSpPr>
        <p:spPr>
          <a:xfrm>
            <a:off x="6611111" y="2331720"/>
            <a:ext cx="4663442" cy="1725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Bef>
                <a:spcPts val="1000"/>
              </a:spcBef>
              <a:buSzPct val="100000"/>
              <a:buChar char="•"/>
              <a:defRPr sz="1400">
                <a:solidFill>
                  <a:srgbClr val="C7CDD9"/>
                </a:solidFill>
              </a:defRPr>
            </a:pPr>
            <a:r>
              <a:t>Ordering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SzPct val="100000"/>
              <a:buChar char="•"/>
              <a:defRPr sz="1400">
                <a:solidFill>
                  <a:srgbClr val="C7CDD9"/>
                </a:solidFill>
              </a:defRPr>
            </a:pPr>
            <a:r>
              <a:t>Relative frequency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SzPct val="100000"/>
              <a:buChar char="•"/>
              <a:defRPr sz="1400">
                <a:solidFill>
                  <a:srgbClr val="C7CDD9"/>
                </a:solidFill>
              </a:defRPr>
            </a:pPr>
            <a:r>
              <a:t>Bucket weight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SzPct val="100000"/>
              <a:buChar char="•"/>
              <a:defRPr sz="1400">
                <a:solidFill>
                  <a:srgbClr val="C7CDD9"/>
                </a:solidFill>
              </a:defRPr>
            </a:pPr>
            <a:r>
              <a:t>Cardinality and span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SzPct val="100000"/>
              <a:buChar char="•"/>
              <a:defRPr sz="1400">
                <a:solidFill>
                  <a:srgbClr val="C7CDD9"/>
                </a:solidFill>
              </a:defRPr>
            </a:pPr>
            <a:r>
              <a:t>Relational structure</a:t>
            </a:r>
          </a:p>
        </p:txBody>
      </p:sp>
      <p:sp>
        <p:nvSpPr>
          <p:cNvPr id="221" name="Shape 10"/>
          <p:cNvSpPr/>
          <p:nvPr/>
        </p:nvSpPr>
        <p:spPr>
          <a:xfrm>
            <a:off x="548640" y="5303520"/>
            <a:ext cx="11091672" cy="777241"/>
          </a:xfrm>
          <a:prstGeom prst="roundRect">
            <a:avLst>
              <a:gd name="adj" fmla="val 11765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11"/>
          <p:cNvSpPr txBox="1"/>
          <p:nvPr/>
        </p:nvSpPr>
        <p:spPr>
          <a:xfrm>
            <a:off x="960120" y="5444762"/>
            <a:ext cx="10332720" cy="49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20000"/>
              </a:lnSpc>
              <a:defRPr b="1" sz="1300">
                <a:solidFill>
                  <a:srgbClr val="E5C07B"/>
                </a:solidFill>
              </a:defRPr>
            </a:pPr>
            <a:r>
              <a:t>Two-party deployment: </a:t>
            </a:r>
            <a:r>
              <a:rPr b="0">
                <a:solidFill>
                  <a:srgbClr val="C7CDD9"/>
                </a:solidFill>
              </a:rPr>
              <a:t>raw statistics can stay on the data owner's infrastructure — only the annotated DDL crosses the boundary to the party generating data.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EVALUATION</a:t>
            </a:r>
          </a:p>
        </p:txBody>
      </p:sp>
      <p:sp>
        <p:nvSpPr>
          <p:cNvPr id="227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Evaluation setup</a:t>
            </a:r>
          </a:p>
        </p:txBody>
      </p:sp>
      <p:sp>
        <p:nvSpPr>
          <p:cNvPr id="228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229" name="Text 3"/>
          <p:cNvSpPr txBox="1"/>
          <p:nvPr/>
        </p:nvSpPr>
        <p:spPr>
          <a:xfrm>
            <a:off x="11567160" y="65721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30" name="Shape 4"/>
          <p:cNvSpPr/>
          <p:nvPr/>
        </p:nvSpPr>
        <p:spPr>
          <a:xfrm>
            <a:off x="548640" y="1463039"/>
            <a:ext cx="3566160" cy="594361"/>
          </a:xfrm>
          <a:prstGeom prst="roundRect">
            <a:avLst>
              <a:gd name="adj" fmla="val 15385"/>
            </a:avLst>
          </a:prstGeom>
          <a:solidFill>
            <a:srgbClr val="2B303A"/>
          </a:solidFill>
          <a:ln w="12700">
            <a:solidFill>
              <a:srgbClr val="6B93D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5"/>
          <p:cNvSpPr txBox="1"/>
          <p:nvPr/>
        </p:nvSpPr>
        <p:spPr>
          <a:xfrm>
            <a:off x="594359" y="1612899"/>
            <a:ext cx="34747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6B93D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MySQL 9.7.0</a:t>
            </a:r>
          </a:p>
        </p:txBody>
      </p:sp>
      <p:sp>
        <p:nvSpPr>
          <p:cNvPr id="232" name="Shape 6"/>
          <p:cNvSpPr/>
          <p:nvPr/>
        </p:nvSpPr>
        <p:spPr>
          <a:xfrm>
            <a:off x="4315967" y="1463039"/>
            <a:ext cx="3566161" cy="594361"/>
          </a:xfrm>
          <a:prstGeom prst="roundRect">
            <a:avLst>
              <a:gd name="adj" fmla="val 15385"/>
            </a:avLst>
          </a:prstGeom>
          <a:solidFill>
            <a:srgbClr val="2B303A"/>
          </a:solidFill>
          <a:ln w="12700">
            <a:solidFill>
              <a:srgbClr val="6B93D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7"/>
          <p:cNvSpPr txBox="1"/>
          <p:nvPr/>
        </p:nvSpPr>
        <p:spPr>
          <a:xfrm>
            <a:off x="4361687" y="1612899"/>
            <a:ext cx="34747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6B93D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TiDB v8.5</a:t>
            </a:r>
          </a:p>
        </p:txBody>
      </p:sp>
      <p:sp>
        <p:nvSpPr>
          <p:cNvPr id="234" name="Shape 8"/>
          <p:cNvSpPr/>
          <p:nvPr/>
        </p:nvSpPr>
        <p:spPr>
          <a:xfrm>
            <a:off x="8083295" y="1463039"/>
            <a:ext cx="3566161" cy="594361"/>
          </a:xfrm>
          <a:prstGeom prst="roundRect">
            <a:avLst>
              <a:gd name="adj" fmla="val 15385"/>
            </a:avLst>
          </a:prstGeom>
          <a:solidFill>
            <a:srgbClr val="2B303A"/>
          </a:solidFill>
          <a:ln w="12700">
            <a:solidFill>
              <a:srgbClr val="6B93D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9"/>
          <p:cNvSpPr txBox="1"/>
          <p:nvPr/>
        </p:nvSpPr>
        <p:spPr>
          <a:xfrm>
            <a:off x="8129015" y="1612899"/>
            <a:ext cx="34747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6B93D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SingleStore 9.1</a:t>
            </a:r>
          </a:p>
        </p:txBody>
      </p:sp>
      <p:sp>
        <p:nvSpPr>
          <p:cNvPr id="236" name="Shape 10"/>
          <p:cNvSpPr/>
          <p:nvPr/>
        </p:nvSpPr>
        <p:spPr>
          <a:xfrm>
            <a:off x="548640" y="2331720"/>
            <a:ext cx="5422392" cy="1554481"/>
          </a:xfrm>
          <a:prstGeom prst="roundRect">
            <a:avLst>
              <a:gd name="adj" fmla="val 5882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11"/>
          <p:cNvSpPr txBox="1"/>
          <p:nvPr/>
        </p:nvSpPr>
        <p:spPr>
          <a:xfrm>
            <a:off x="914400" y="2524759"/>
            <a:ext cx="4690873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7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TPC-H</a:t>
            </a:r>
          </a:p>
        </p:txBody>
      </p:sp>
      <p:sp>
        <p:nvSpPr>
          <p:cNvPr id="238" name="Text 12"/>
          <p:cNvSpPr txBox="1"/>
          <p:nvPr/>
        </p:nvSpPr>
        <p:spPr>
          <a:xfrm>
            <a:off x="914400" y="3086013"/>
            <a:ext cx="4690873" cy="503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7CDD9"/>
                </a:solidFill>
              </a:defRPr>
            </a:lvl1pPr>
          </a:lstStyle>
          <a:p>
            <a:pPr/>
            <a:r>
              <a:t>8 tables · order-entry decision-support workload · explicit FK relationships · 10 GB</a:t>
            </a:r>
          </a:p>
        </p:txBody>
      </p:sp>
      <p:sp>
        <p:nvSpPr>
          <p:cNvPr id="239" name="Shape 13"/>
          <p:cNvSpPr/>
          <p:nvPr/>
        </p:nvSpPr>
        <p:spPr>
          <a:xfrm>
            <a:off x="6217920" y="2331720"/>
            <a:ext cx="5422392" cy="1554481"/>
          </a:xfrm>
          <a:prstGeom prst="roundRect">
            <a:avLst>
              <a:gd name="adj" fmla="val 5882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14"/>
          <p:cNvSpPr txBox="1"/>
          <p:nvPr/>
        </p:nvSpPr>
        <p:spPr>
          <a:xfrm>
            <a:off x="6583679" y="2524759"/>
            <a:ext cx="4690873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7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TPC-DS</a:t>
            </a:r>
          </a:p>
        </p:txBody>
      </p:sp>
      <p:sp>
        <p:nvSpPr>
          <p:cNvPr id="241" name="Text 15"/>
          <p:cNvSpPr txBox="1"/>
          <p:nvPr/>
        </p:nvSpPr>
        <p:spPr>
          <a:xfrm>
            <a:off x="6583679" y="3086013"/>
            <a:ext cx="4690873" cy="503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7CDD9"/>
                </a:solidFill>
              </a:defRPr>
            </a:lvl1pPr>
          </a:lstStyle>
          <a:p>
            <a:pPr/>
            <a:r>
              <a:t>24 tables · retail multi-channel workload · slowly-changing dims · composite FKs · 10 GB</a:t>
            </a:r>
          </a:p>
        </p:txBody>
      </p:sp>
      <p:sp>
        <p:nvSpPr>
          <p:cNvPr id="242" name="Text 16"/>
          <p:cNvSpPr txBox="1"/>
          <p:nvPr/>
        </p:nvSpPr>
        <p:spPr>
          <a:xfrm>
            <a:off x="594360" y="4191439"/>
            <a:ext cx="7223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300">
                <a:solidFill>
                  <a:srgbClr val="8891A0"/>
                </a:solidFill>
              </a:defRPr>
            </a:lvl1pPr>
          </a:lstStyle>
          <a:p>
            <a:pPr/>
            <a:r>
              <a:t>Validated across five dimensions</a:t>
            </a:r>
          </a:p>
        </p:txBody>
      </p:sp>
      <p:sp>
        <p:nvSpPr>
          <p:cNvPr id="243" name="Shape 17"/>
          <p:cNvSpPr/>
          <p:nvPr/>
        </p:nvSpPr>
        <p:spPr>
          <a:xfrm>
            <a:off x="548640" y="4572000"/>
            <a:ext cx="2112265" cy="1188720"/>
          </a:xfrm>
          <a:prstGeom prst="roundRect">
            <a:avLst>
              <a:gd name="adj" fmla="val 7692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18"/>
          <p:cNvSpPr txBox="1"/>
          <p:nvPr/>
        </p:nvSpPr>
        <p:spPr>
          <a:xfrm>
            <a:off x="731519" y="4779072"/>
            <a:ext cx="174650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56B6C2"/>
                </a:solidFill>
              </a:defRPr>
            </a:lvl1pPr>
          </a:lstStyle>
          <a:p>
            <a:pPr/>
            <a:r>
              <a:t>Rows</a:t>
            </a:r>
          </a:p>
        </p:txBody>
      </p:sp>
      <p:sp>
        <p:nvSpPr>
          <p:cNvPr id="245" name="Text 19"/>
          <p:cNvSpPr txBox="1"/>
          <p:nvPr/>
        </p:nvSpPr>
        <p:spPr>
          <a:xfrm>
            <a:off x="731519" y="5266235"/>
            <a:ext cx="1746506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exact match</a:t>
            </a:r>
          </a:p>
        </p:txBody>
      </p:sp>
      <p:sp>
        <p:nvSpPr>
          <p:cNvPr id="246" name="Shape 20"/>
          <p:cNvSpPr/>
          <p:nvPr/>
        </p:nvSpPr>
        <p:spPr>
          <a:xfrm>
            <a:off x="2825495" y="4572000"/>
            <a:ext cx="2112266" cy="1188720"/>
          </a:xfrm>
          <a:prstGeom prst="roundRect">
            <a:avLst>
              <a:gd name="adj" fmla="val 7692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21"/>
          <p:cNvSpPr txBox="1"/>
          <p:nvPr/>
        </p:nvSpPr>
        <p:spPr>
          <a:xfrm>
            <a:off x="3008375" y="4779072"/>
            <a:ext cx="174650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56B6C2"/>
                </a:solidFill>
              </a:defRPr>
            </a:lvl1pPr>
          </a:lstStyle>
          <a:p>
            <a:pPr/>
            <a:r>
              <a:t>Histograms</a:t>
            </a:r>
          </a:p>
        </p:txBody>
      </p:sp>
      <p:sp>
        <p:nvSpPr>
          <p:cNvPr id="248" name="Text 22"/>
          <p:cNvSpPr txBox="1"/>
          <p:nvPr/>
        </p:nvSpPr>
        <p:spPr>
          <a:xfrm>
            <a:off x="3008375" y="5266235"/>
            <a:ext cx="174650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TVD &lt; 5%</a:t>
            </a:r>
          </a:p>
        </p:txBody>
      </p:sp>
      <p:sp>
        <p:nvSpPr>
          <p:cNvPr id="249" name="Shape 23"/>
          <p:cNvSpPr/>
          <p:nvPr/>
        </p:nvSpPr>
        <p:spPr>
          <a:xfrm>
            <a:off x="5102352" y="4572000"/>
            <a:ext cx="2112265" cy="1188720"/>
          </a:xfrm>
          <a:prstGeom prst="roundRect">
            <a:avLst>
              <a:gd name="adj" fmla="val 7692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24"/>
          <p:cNvSpPr txBox="1"/>
          <p:nvPr/>
        </p:nvSpPr>
        <p:spPr>
          <a:xfrm>
            <a:off x="5285231" y="4779072"/>
            <a:ext cx="174650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56B6C2"/>
                </a:solidFill>
              </a:defRPr>
            </a:lvl1pPr>
          </a:lstStyle>
          <a:p>
            <a:pPr/>
            <a:r>
              <a:t>Distinct</a:t>
            </a:r>
          </a:p>
        </p:txBody>
      </p:sp>
      <p:sp>
        <p:nvSpPr>
          <p:cNvPr id="251" name="Text 25"/>
          <p:cNvSpPr txBox="1"/>
          <p:nvPr/>
        </p:nvSpPr>
        <p:spPr>
          <a:xfrm>
            <a:off x="5285231" y="5266235"/>
            <a:ext cx="174650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diff &lt; 5%</a:t>
            </a:r>
          </a:p>
        </p:txBody>
      </p:sp>
      <p:sp>
        <p:nvSpPr>
          <p:cNvPr id="252" name="Shape 26"/>
          <p:cNvSpPr/>
          <p:nvPr/>
        </p:nvSpPr>
        <p:spPr>
          <a:xfrm>
            <a:off x="7379207" y="4572000"/>
            <a:ext cx="2112265" cy="1188720"/>
          </a:xfrm>
          <a:prstGeom prst="roundRect">
            <a:avLst>
              <a:gd name="adj" fmla="val 7692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27"/>
          <p:cNvSpPr txBox="1"/>
          <p:nvPr/>
        </p:nvSpPr>
        <p:spPr>
          <a:xfrm>
            <a:off x="7562088" y="4779072"/>
            <a:ext cx="174650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56B6C2"/>
                </a:solidFill>
              </a:defRPr>
            </a:lvl1pPr>
          </a:lstStyle>
          <a:p>
            <a:pPr/>
            <a:r>
              <a:t>FK Integrity</a:t>
            </a:r>
          </a:p>
        </p:txBody>
      </p:sp>
      <p:sp>
        <p:nvSpPr>
          <p:cNvPr id="254" name="Text 28"/>
          <p:cNvSpPr txBox="1"/>
          <p:nvPr/>
        </p:nvSpPr>
        <p:spPr>
          <a:xfrm>
            <a:off x="7562088" y="5266235"/>
            <a:ext cx="174650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zero orphans</a:t>
            </a:r>
          </a:p>
        </p:txBody>
      </p:sp>
      <p:sp>
        <p:nvSpPr>
          <p:cNvPr id="255" name="Shape 29"/>
          <p:cNvSpPr/>
          <p:nvPr/>
        </p:nvSpPr>
        <p:spPr>
          <a:xfrm>
            <a:off x="9656064" y="4572000"/>
            <a:ext cx="2112265" cy="1188720"/>
          </a:xfrm>
          <a:prstGeom prst="roundRect">
            <a:avLst>
              <a:gd name="adj" fmla="val 7692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30"/>
          <p:cNvSpPr txBox="1"/>
          <p:nvPr/>
        </p:nvSpPr>
        <p:spPr>
          <a:xfrm>
            <a:off x="9838943" y="4779072"/>
            <a:ext cx="174650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56B6C2"/>
                </a:solidFill>
              </a:defRPr>
            </a:lvl1pPr>
          </a:lstStyle>
          <a:p>
            <a:pPr/>
            <a:r>
              <a:t>Privacy</a:t>
            </a:r>
          </a:p>
        </p:txBody>
      </p:sp>
      <p:sp>
        <p:nvSpPr>
          <p:cNvPr id="257" name="Text 31"/>
          <p:cNvSpPr txBox="1"/>
          <p:nvPr/>
        </p:nvSpPr>
        <p:spPr>
          <a:xfrm>
            <a:off x="9838943" y="5266235"/>
            <a:ext cx="174650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MD5 + literal check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262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Near-perfect fidelity, across all three engines</a:t>
            </a:r>
          </a:p>
        </p:txBody>
      </p:sp>
      <p:sp>
        <p:nvSpPr>
          <p:cNvPr id="263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264" name="Text 3"/>
          <p:cNvSpPr txBox="1"/>
          <p:nvPr/>
        </p:nvSpPr>
        <p:spPr>
          <a:xfrm>
            <a:off x="11567160" y="65721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65" name="Text 4"/>
          <p:cNvSpPr txBox="1"/>
          <p:nvPr/>
        </p:nvSpPr>
        <p:spPr>
          <a:xfrm>
            <a:off x="594360" y="1448239"/>
            <a:ext cx="533095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E5C07B"/>
                </a:solidFill>
              </a:defRPr>
            </a:lvl1pPr>
          </a:lstStyle>
          <a:p>
            <a:pPr/>
            <a:r>
              <a:t>TPC-H · SF10</a:t>
            </a:r>
          </a:p>
        </p:txBody>
      </p:sp>
      <p:graphicFrame>
        <p:nvGraphicFramePr>
          <p:cNvPr id="266" name="Table 0"/>
          <p:cNvGraphicFramePr/>
          <p:nvPr/>
        </p:nvGraphicFramePr>
        <p:xfrm>
          <a:off x="548640" y="1783079"/>
          <a:ext cx="5422392" cy="17373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518270"/>
                <a:gridCol w="780824"/>
                <a:gridCol w="780824"/>
                <a:gridCol w="780824"/>
                <a:gridCol w="780824"/>
                <a:gridCol w="780824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2F4F8"/>
                          </a:solidFill>
                        </a:rPr>
                        <a:t>Engine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2F4F8"/>
                          </a:solidFill>
                        </a:rPr>
                        <a:t>Rows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2F4F8"/>
                          </a:solidFill>
                        </a:rPr>
                        <a:t>Hist.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2F4F8"/>
                          </a:solidFill>
                        </a:rPr>
                        <a:t>Distinct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2F4F8"/>
                          </a:solidFill>
                        </a:rPr>
                        <a:t>FK Int.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2F4F8"/>
                          </a:solidFill>
                        </a:rPr>
                        <a:t>Privacy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C7CDD9"/>
                          </a:solidFill>
                        </a:rPr>
                        <a:t>MySQL 9.7.0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8/8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55/55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61/61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12/12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8/8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C7CDD9"/>
                          </a:solidFill>
                        </a:rPr>
                        <a:t>TiDB v8.5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8/8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10/10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61/61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12/12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8/8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C7CDD9"/>
                          </a:solidFill>
                        </a:rPr>
                        <a:t>SingleStore 9.1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8/8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23/23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61/61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16/16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8/8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</a:tr>
            </a:tbl>
          </a:graphicData>
        </a:graphic>
      </p:graphicFrame>
      <p:sp>
        <p:nvSpPr>
          <p:cNvPr id="267" name="Text 5"/>
          <p:cNvSpPr txBox="1"/>
          <p:nvPr/>
        </p:nvSpPr>
        <p:spPr>
          <a:xfrm>
            <a:off x="6263640" y="1448239"/>
            <a:ext cx="5330953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E5C07B"/>
                </a:solidFill>
              </a:defRPr>
            </a:lvl1pPr>
          </a:lstStyle>
          <a:p>
            <a:pPr/>
            <a:r>
              <a:t>TPC-DS · 10 GB</a:t>
            </a:r>
          </a:p>
        </p:txBody>
      </p:sp>
      <p:graphicFrame>
        <p:nvGraphicFramePr>
          <p:cNvPr id="268" name="Table 1"/>
          <p:cNvGraphicFramePr/>
          <p:nvPr/>
        </p:nvGraphicFramePr>
        <p:xfrm>
          <a:off x="6217920" y="1783079"/>
          <a:ext cx="5422392" cy="17373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518270"/>
                <a:gridCol w="780824"/>
                <a:gridCol w="780824"/>
                <a:gridCol w="780824"/>
                <a:gridCol w="780824"/>
                <a:gridCol w="780824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2F4F8"/>
                          </a:solidFill>
                        </a:rPr>
                        <a:t>Engine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2F4F8"/>
                          </a:solidFill>
                        </a:rPr>
                        <a:t>Rows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2F4F8"/>
                          </a:solidFill>
                        </a:rPr>
                        <a:t>Hist.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2F4F8"/>
                          </a:solidFill>
                        </a:rPr>
                        <a:t>Distinct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2F4F8"/>
                          </a:solidFill>
                        </a:rPr>
                        <a:t>FK Int.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2F4F8"/>
                          </a:solidFill>
                        </a:rPr>
                        <a:t>Privacy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B30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C7CDD9"/>
                          </a:solidFill>
                        </a:rPr>
                        <a:t>MySQL 9.7.0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24/24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408/408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415/425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204/204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24/24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C7CDD9"/>
                          </a:solidFill>
                        </a:rPr>
                        <a:t>TiDB v8.5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24/24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38/38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425/425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204/204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24/24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C7CDD9"/>
                          </a:solidFill>
                        </a:rPr>
                        <a:t>SingleStore 9.1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24/24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196/196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425/425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204/204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7C93F"/>
                          </a:solidFill>
                        </a:rPr>
                        <a:t>24/24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3A3F4B"/>
                      </a:solidFill>
                    </a:lnL>
                    <a:lnR w="6350">
                      <a:solidFill>
                        <a:srgbClr val="3A3F4B"/>
                      </a:solidFill>
                    </a:lnR>
                    <a:lnT w="6350">
                      <a:solidFill>
                        <a:srgbClr val="3A3F4B"/>
                      </a:solidFill>
                    </a:lnT>
                    <a:lnB w="6350">
                      <a:solidFill>
                        <a:srgbClr val="3A3F4B"/>
                      </a:solidFill>
                    </a:lnB>
                    <a:solidFill>
                      <a:srgbClr val="242830"/>
                    </a:solidFill>
                  </a:tcPr>
                </a:tc>
              </a:tr>
            </a:tbl>
          </a:graphicData>
        </a:graphic>
      </p:graphicFrame>
      <p:sp>
        <p:nvSpPr>
          <p:cNvPr id="269" name="Shape 6"/>
          <p:cNvSpPr/>
          <p:nvPr/>
        </p:nvSpPr>
        <p:spPr>
          <a:xfrm>
            <a:off x="548640" y="4114800"/>
            <a:ext cx="5422392" cy="1737361"/>
          </a:xfrm>
          <a:prstGeom prst="roundRect">
            <a:avLst>
              <a:gd name="adj" fmla="val 5263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7"/>
          <p:cNvSpPr txBox="1"/>
          <p:nvPr/>
        </p:nvSpPr>
        <p:spPr>
          <a:xfrm>
            <a:off x="594360" y="4356099"/>
            <a:ext cx="5330952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4400">
                <a:solidFill>
                  <a:srgbClr val="56B6C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4.77%</a:t>
            </a:r>
          </a:p>
        </p:txBody>
      </p:sp>
      <p:sp>
        <p:nvSpPr>
          <p:cNvPr id="271" name="Text 8"/>
          <p:cNvSpPr txBox="1"/>
          <p:nvPr/>
        </p:nvSpPr>
        <p:spPr>
          <a:xfrm>
            <a:off x="868679" y="5205591"/>
            <a:ext cx="4782314" cy="47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120000"/>
              </a:lnSpc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maximum histogram TVD observed (LINEITEM L_QUANTITY, SF5) — well below the 5% threshold</a:t>
            </a:r>
          </a:p>
        </p:txBody>
      </p:sp>
      <p:sp>
        <p:nvSpPr>
          <p:cNvPr id="272" name="Shape 9"/>
          <p:cNvSpPr/>
          <p:nvPr/>
        </p:nvSpPr>
        <p:spPr>
          <a:xfrm>
            <a:off x="6217920" y="4114800"/>
            <a:ext cx="5422392" cy="1737361"/>
          </a:xfrm>
          <a:prstGeom prst="roundRect">
            <a:avLst>
              <a:gd name="adj" fmla="val 5263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10"/>
          <p:cNvSpPr txBox="1"/>
          <p:nvPr/>
        </p:nvSpPr>
        <p:spPr>
          <a:xfrm>
            <a:off x="6263640" y="4356099"/>
            <a:ext cx="5330953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4400">
                <a:solidFill>
                  <a:srgbClr val="27C93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274" name="Text 11"/>
          <p:cNvSpPr txBox="1"/>
          <p:nvPr/>
        </p:nvSpPr>
        <p:spPr>
          <a:xfrm>
            <a:off x="6537960" y="5205591"/>
            <a:ext cx="4782313" cy="47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120000"/>
              </a:lnSpc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FK integrity and privacy checks pass — every engine, every scale factor, both benchmarks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279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Contributions</a:t>
            </a:r>
          </a:p>
        </p:txBody>
      </p:sp>
      <p:sp>
        <p:nvSpPr>
          <p:cNvPr id="280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281" name="Text 3"/>
          <p:cNvSpPr txBox="1"/>
          <p:nvPr/>
        </p:nvSpPr>
        <p:spPr>
          <a:xfrm>
            <a:off x="11567160" y="65721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82" name="Shape 4"/>
          <p:cNvSpPr/>
          <p:nvPr/>
        </p:nvSpPr>
        <p:spPr>
          <a:xfrm>
            <a:off x="548640" y="1463039"/>
            <a:ext cx="11091672" cy="896113"/>
          </a:xfrm>
          <a:prstGeom prst="roundRect">
            <a:avLst>
              <a:gd name="adj" fmla="val 10204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Shape 5"/>
          <p:cNvSpPr/>
          <p:nvPr/>
        </p:nvSpPr>
        <p:spPr>
          <a:xfrm>
            <a:off x="822960" y="1728216"/>
            <a:ext cx="365761" cy="365761"/>
          </a:xfrm>
          <a:prstGeom prst="roundRect">
            <a:avLst>
              <a:gd name="adj" fmla="val 50000"/>
            </a:avLst>
          </a:prstGeom>
          <a:solidFill>
            <a:srgbClr val="56B6C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6"/>
          <p:cNvSpPr txBox="1"/>
          <p:nvPr/>
        </p:nvSpPr>
        <p:spPr>
          <a:xfrm>
            <a:off x="868680" y="1770696"/>
            <a:ext cx="274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B1E23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5" name="Text 7"/>
          <p:cNvSpPr txBox="1"/>
          <p:nvPr/>
        </p:nvSpPr>
        <p:spPr>
          <a:xfrm>
            <a:off x="1417320" y="1832663"/>
            <a:ext cx="99669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200">
                <a:solidFill>
                  <a:srgbClr val="F2F4F8"/>
                </a:solidFill>
              </a:defRPr>
            </a:pPr>
            <a:r>
              <a:t>An automated pipeline — </a:t>
            </a:r>
            <a:r>
              <a:rPr b="0">
                <a:solidFill>
                  <a:srgbClr val="C7CDD9"/>
                </a:solidFill>
              </a:rPr>
              <a:t>converting relational catalog metadata and optimizer statistics into executable DataGenX templates.</a:t>
            </a:r>
          </a:p>
        </p:txBody>
      </p:sp>
      <p:sp>
        <p:nvSpPr>
          <p:cNvPr id="286" name="Shape 8"/>
          <p:cNvSpPr/>
          <p:nvPr/>
        </p:nvSpPr>
        <p:spPr>
          <a:xfrm>
            <a:off x="548640" y="2468879"/>
            <a:ext cx="11091672" cy="896113"/>
          </a:xfrm>
          <a:prstGeom prst="roundRect">
            <a:avLst>
              <a:gd name="adj" fmla="val 10204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Shape 9"/>
          <p:cNvSpPr/>
          <p:nvPr/>
        </p:nvSpPr>
        <p:spPr>
          <a:xfrm>
            <a:off x="822960" y="2734055"/>
            <a:ext cx="365761" cy="365761"/>
          </a:xfrm>
          <a:prstGeom prst="roundRect">
            <a:avLst>
              <a:gd name="adj" fmla="val 50000"/>
            </a:avLst>
          </a:prstGeom>
          <a:solidFill>
            <a:srgbClr val="C67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Text 10"/>
          <p:cNvSpPr txBox="1"/>
          <p:nvPr/>
        </p:nvSpPr>
        <p:spPr>
          <a:xfrm>
            <a:off x="868680" y="2776536"/>
            <a:ext cx="274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B1E23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9" name="Text 11"/>
          <p:cNvSpPr txBox="1"/>
          <p:nvPr/>
        </p:nvSpPr>
        <p:spPr>
          <a:xfrm>
            <a:off x="1417320" y="2731488"/>
            <a:ext cx="9966960" cy="370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200">
                <a:solidFill>
                  <a:srgbClr val="F2F4F8"/>
                </a:solidFill>
              </a:defRPr>
            </a:pPr>
            <a:r>
              <a:t>A privacy-preserving remapping mechanism — </a:t>
            </a:r>
            <a:r>
              <a:rPr b="0">
                <a:solidFill>
                  <a:srgbClr val="C7CDD9"/>
                </a:solidFill>
              </a:rPr>
              <a:t>preserving statistical roles — ordering, frequency, bucket weight, cardinality, structure — without copying source values.</a:t>
            </a:r>
          </a:p>
        </p:txBody>
      </p:sp>
      <p:sp>
        <p:nvSpPr>
          <p:cNvPr id="290" name="Shape 12"/>
          <p:cNvSpPr/>
          <p:nvPr/>
        </p:nvSpPr>
        <p:spPr>
          <a:xfrm>
            <a:off x="548640" y="3474720"/>
            <a:ext cx="11091672" cy="896113"/>
          </a:xfrm>
          <a:prstGeom prst="roundRect">
            <a:avLst>
              <a:gd name="adj" fmla="val 10204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Shape 13"/>
          <p:cNvSpPr/>
          <p:nvPr/>
        </p:nvSpPr>
        <p:spPr>
          <a:xfrm>
            <a:off x="822960" y="3739896"/>
            <a:ext cx="365761" cy="365761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 14"/>
          <p:cNvSpPr txBox="1"/>
          <p:nvPr/>
        </p:nvSpPr>
        <p:spPr>
          <a:xfrm>
            <a:off x="868680" y="3782376"/>
            <a:ext cx="274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B1E23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93" name="Text 15"/>
          <p:cNvSpPr txBox="1"/>
          <p:nvPr/>
        </p:nvSpPr>
        <p:spPr>
          <a:xfrm>
            <a:off x="1417320" y="3844343"/>
            <a:ext cx="99669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200">
                <a:solidFill>
                  <a:srgbClr val="F2F4F8"/>
                </a:solidFill>
              </a:defRPr>
            </a:pPr>
            <a:r>
              <a:t>Database-specific adapters — </a:t>
            </a:r>
            <a:r>
              <a:rPr b="0">
                <a:solidFill>
                  <a:srgbClr val="C7CDD9"/>
                </a:solidFill>
              </a:rPr>
              <a:t>for MySQL, TiDB, and SingleStore, handling differences in catalog schema, histogram format, and statistics collection.</a:t>
            </a:r>
          </a:p>
        </p:txBody>
      </p:sp>
      <p:sp>
        <p:nvSpPr>
          <p:cNvPr id="294" name="Shape 16"/>
          <p:cNvSpPr/>
          <p:nvPr/>
        </p:nvSpPr>
        <p:spPr>
          <a:xfrm>
            <a:off x="548640" y="4480559"/>
            <a:ext cx="11091672" cy="896113"/>
          </a:xfrm>
          <a:prstGeom prst="roundRect">
            <a:avLst>
              <a:gd name="adj" fmla="val 10204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Shape 17"/>
          <p:cNvSpPr/>
          <p:nvPr/>
        </p:nvSpPr>
        <p:spPr>
          <a:xfrm>
            <a:off x="822960" y="4745735"/>
            <a:ext cx="365761" cy="365761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18"/>
          <p:cNvSpPr txBox="1"/>
          <p:nvPr/>
        </p:nvSpPr>
        <p:spPr>
          <a:xfrm>
            <a:off x="868680" y="4788216"/>
            <a:ext cx="274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B1E23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97" name="Text 19"/>
          <p:cNvSpPr txBox="1"/>
          <p:nvPr/>
        </p:nvSpPr>
        <p:spPr>
          <a:xfrm>
            <a:off x="1417320" y="4850183"/>
            <a:ext cx="99669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200">
                <a:solidFill>
                  <a:srgbClr val="F2F4F8"/>
                </a:solidFill>
              </a:defRPr>
            </a:pPr>
            <a:r>
              <a:t>A validation framework — </a:t>
            </a:r>
            <a:r>
              <a:rPr b="0">
                <a:solidFill>
                  <a:srgbClr val="C7CDD9"/>
                </a:solidFill>
              </a:rPr>
              <a:t>verifying row counts, column-level distributions, distinct-value counts, FK referential integrity, and absence of copied source rows.</a:t>
            </a:r>
          </a:p>
        </p:txBody>
      </p:sp>
      <p:sp>
        <p:nvSpPr>
          <p:cNvPr id="298" name="Shape 20"/>
          <p:cNvSpPr/>
          <p:nvPr/>
        </p:nvSpPr>
        <p:spPr>
          <a:xfrm>
            <a:off x="548640" y="5486400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Shape 21"/>
          <p:cNvSpPr/>
          <p:nvPr/>
        </p:nvSpPr>
        <p:spPr>
          <a:xfrm>
            <a:off x="822960" y="5751576"/>
            <a:ext cx="365761" cy="365761"/>
          </a:xfrm>
          <a:prstGeom prst="roundRect">
            <a:avLst>
              <a:gd name="adj" fmla="val 50000"/>
            </a:avLst>
          </a:prstGeom>
          <a:solidFill>
            <a:srgbClr val="6B93D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22"/>
          <p:cNvSpPr txBox="1"/>
          <p:nvPr/>
        </p:nvSpPr>
        <p:spPr>
          <a:xfrm>
            <a:off x="868680" y="5794056"/>
            <a:ext cx="274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B1E23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01" name="Text 23"/>
          <p:cNvSpPr txBox="1"/>
          <p:nvPr/>
        </p:nvSpPr>
        <p:spPr>
          <a:xfrm>
            <a:off x="1417320" y="5856023"/>
            <a:ext cx="99669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200">
                <a:solidFill>
                  <a:srgbClr val="F2F4F8"/>
                </a:solidFill>
              </a:defRPr>
            </a:pPr>
            <a:r>
              <a:t>Empirical validation — </a:t>
            </a:r>
            <a:r>
              <a:rPr b="0">
                <a:solidFill>
                  <a:srgbClr val="C7CDD9"/>
                </a:solidFill>
              </a:rPr>
              <a:t>on TPC-H and TPC-DS at 10 GB across three engines — perfect histogram fidelity, row counts, FK integrity, and privacy.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 0"/>
          <p:cNvSpPr txBox="1"/>
          <p:nvPr/>
        </p:nvSpPr>
        <p:spPr>
          <a:xfrm>
            <a:off x="594360" y="333047"/>
            <a:ext cx="9052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200">
                <a:solidFill>
                  <a:srgbClr val="6B93D6"/>
                </a:solidFill>
              </a:defRPr>
            </a:lvl1pPr>
          </a:lstStyle>
          <a:p>
            <a:pPr/>
            <a:r>
              <a:t>WHAT'S NEXT</a:t>
            </a:r>
          </a:p>
        </p:txBody>
      </p:sp>
      <p:sp>
        <p:nvSpPr>
          <p:cNvPr id="306" name="Text 1"/>
          <p:cNvSpPr txBox="1"/>
          <p:nvPr/>
        </p:nvSpPr>
        <p:spPr>
          <a:xfrm>
            <a:off x="594360" y="585977"/>
            <a:ext cx="108813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Future work</a:t>
            </a:r>
          </a:p>
        </p:txBody>
      </p:sp>
      <p:sp>
        <p:nvSpPr>
          <p:cNvPr id="307" name="Text 2"/>
          <p:cNvSpPr txBox="1"/>
          <p:nvPr/>
        </p:nvSpPr>
        <p:spPr>
          <a:xfrm>
            <a:off x="502919" y="657216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DataGenX V2  ·  TPC-TC 2026</a:t>
            </a:r>
          </a:p>
        </p:txBody>
      </p:sp>
      <p:sp>
        <p:nvSpPr>
          <p:cNvPr id="308" name="Text 3"/>
          <p:cNvSpPr txBox="1"/>
          <p:nvPr/>
        </p:nvSpPr>
        <p:spPr>
          <a:xfrm>
            <a:off x="11567160" y="65721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8891A0"/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09" name="Shape 4"/>
          <p:cNvSpPr/>
          <p:nvPr/>
        </p:nvSpPr>
        <p:spPr>
          <a:xfrm>
            <a:off x="548640" y="1463039"/>
            <a:ext cx="5422392" cy="1691641"/>
          </a:xfrm>
          <a:prstGeom prst="roundRect">
            <a:avLst>
              <a:gd name="adj" fmla="val 5405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5"/>
          <p:cNvSpPr txBox="1"/>
          <p:nvPr/>
        </p:nvSpPr>
        <p:spPr>
          <a:xfrm>
            <a:off x="914400" y="1708149"/>
            <a:ext cx="4690873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56B6C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Tool hardening</a:t>
            </a:r>
          </a:p>
        </p:txBody>
      </p:sp>
      <p:sp>
        <p:nvSpPr>
          <p:cNvPr id="311" name="Text 6"/>
          <p:cNvSpPr txBox="1"/>
          <p:nvPr/>
        </p:nvSpPr>
        <p:spPr>
          <a:xfrm>
            <a:off x="914400" y="2298449"/>
            <a:ext cx="4690873" cy="478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Better error handling for edge-case schemas, a standardized adapter interface, a documented contribution path.</a:t>
            </a:r>
          </a:p>
        </p:txBody>
      </p:sp>
      <p:sp>
        <p:nvSpPr>
          <p:cNvPr id="312" name="Shape 7"/>
          <p:cNvSpPr/>
          <p:nvPr/>
        </p:nvSpPr>
        <p:spPr>
          <a:xfrm>
            <a:off x="6217920" y="1463039"/>
            <a:ext cx="5422392" cy="1691641"/>
          </a:xfrm>
          <a:prstGeom prst="roundRect">
            <a:avLst>
              <a:gd name="adj" fmla="val 5405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Text 8"/>
          <p:cNvSpPr txBox="1"/>
          <p:nvPr/>
        </p:nvSpPr>
        <p:spPr>
          <a:xfrm>
            <a:off x="6583679" y="1708149"/>
            <a:ext cx="4690873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C678D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Scale-factor adaptation</a:t>
            </a:r>
          </a:p>
        </p:txBody>
      </p:sp>
      <p:sp>
        <p:nvSpPr>
          <p:cNvPr id="314" name="Text 9"/>
          <p:cNvSpPr txBox="1"/>
          <p:nvPr/>
        </p:nvSpPr>
        <p:spPr>
          <a:xfrm>
            <a:off x="6583679" y="2298449"/>
            <a:ext cx="4690873" cy="478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Derive scale-up / scale-down purely from catalog metadata — row counts, cardinality ratios, FK fan-out.</a:t>
            </a:r>
          </a:p>
        </p:txBody>
      </p:sp>
      <p:sp>
        <p:nvSpPr>
          <p:cNvPr id="315" name="Shape 10"/>
          <p:cNvSpPr/>
          <p:nvPr/>
        </p:nvSpPr>
        <p:spPr>
          <a:xfrm>
            <a:off x="548640" y="3401567"/>
            <a:ext cx="5422392" cy="1691641"/>
          </a:xfrm>
          <a:prstGeom prst="roundRect">
            <a:avLst>
              <a:gd name="adj" fmla="val 5405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11"/>
          <p:cNvSpPr txBox="1"/>
          <p:nvPr/>
        </p:nvSpPr>
        <p:spPr>
          <a:xfrm>
            <a:off x="914400" y="3646677"/>
            <a:ext cx="4690873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C07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AI-assisted statistics</a:t>
            </a:r>
          </a:p>
        </p:txBody>
      </p:sp>
      <p:sp>
        <p:nvSpPr>
          <p:cNvPr id="317" name="Text 12"/>
          <p:cNvSpPr txBox="1"/>
          <p:nvPr/>
        </p:nvSpPr>
        <p:spPr>
          <a:xfrm>
            <a:off x="914400" y="4236977"/>
            <a:ext cx="4690873" cy="478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Generate plausible histograms and FK fan-out from natural-language descriptions when no live database exists.</a:t>
            </a:r>
          </a:p>
        </p:txBody>
      </p:sp>
      <p:sp>
        <p:nvSpPr>
          <p:cNvPr id="318" name="Shape 13"/>
          <p:cNvSpPr/>
          <p:nvPr/>
        </p:nvSpPr>
        <p:spPr>
          <a:xfrm>
            <a:off x="6217920" y="3401567"/>
            <a:ext cx="5422392" cy="1691641"/>
          </a:xfrm>
          <a:prstGeom prst="roundRect">
            <a:avLst>
              <a:gd name="adj" fmla="val 5405"/>
            </a:avLst>
          </a:prstGeom>
          <a:solidFill>
            <a:srgbClr val="2B303A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14"/>
          <p:cNvSpPr txBox="1"/>
          <p:nvPr/>
        </p:nvSpPr>
        <p:spPr>
          <a:xfrm>
            <a:off x="6583679" y="3646677"/>
            <a:ext cx="4690873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98C3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Deeper fidelity</a:t>
            </a:r>
          </a:p>
        </p:txBody>
      </p:sp>
      <p:sp>
        <p:nvSpPr>
          <p:cNvPr id="320" name="Text 15"/>
          <p:cNvSpPr txBox="1"/>
          <p:nvPr/>
        </p:nvSpPr>
        <p:spPr>
          <a:xfrm>
            <a:off x="6583679" y="4236977"/>
            <a:ext cx="4690873" cy="478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C7CDD9"/>
                </a:solidFill>
              </a:defRPr>
            </a:lvl1pPr>
          </a:lstStyle>
          <a:p>
            <a:pPr/>
            <a:r>
              <a:t>Column-pair correlations and query-plan equivalence — the next criterion beyond statistical fidelity.</a:t>
            </a:r>
          </a:p>
        </p:txBody>
      </p:sp>
      <p:sp>
        <p:nvSpPr>
          <p:cNvPr id="321" name="Shape 16"/>
          <p:cNvSpPr/>
          <p:nvPr/>
        </p:nvSpPr>
        <p:spPr>
          <a:xfrm>
            <a:off x="548640" y="5349240"/>
            <a:ext cx="11091672" cy="960121"/>
          </a:xfrm>
          <a:prstGeom prst="roundRect">
            <a:avLst>
              <a:gd name="adj" fmla="val 9524"/>
            </a:avLst>
          </a:prstGeom>
          <a:solidFill>
            <a:srgbClr val="242830"/>
          </a:solidFill>
          <a:ln>
            <a:solidFill>
              <a:srgbClr val="3A3F4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17"/>
          <p:cNvSpPr txBox="1"/>
          <p:nvPr/>
        </p:nvSpPr>
        <p:spPr>
          <a:xfrm>
            <a:off x="914400" y="5618480"/>
            <a:ext cx="53949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>
                <a:solidFill>
                  <a:srgbClr val="F2F4F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Thank you — questions?</a:t>
            </a:r>
          </a:p>
        </p:txBody>
      </p:sp>
      <p:sp>
        <p:nvSpPr>
          <p:cNvPr id="323" name="Text 18"/>
          <p:cNvSpPr txBox="1"/>
          <p:nvPr/>
        </p:nvSpPr>
        <p:spPr>
          <a:xfrm>
            <a:off x="6446520" y="5643880"/>
            <a:ext cx="512064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891A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sreeharsha.r@gmail.com   ·   aghazal@singlestore.com   ·   hmaduri@amazon.com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